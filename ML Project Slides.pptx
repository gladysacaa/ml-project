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Proxima Nova"/>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ProximaNova-bold.fntdata"/><Relationship Id="rId10" Type="http://schemas.openxmlformats.org/officeDocument/2006/relationships/slide" Target="slides/slide4.xml"/><Relationship Id="rId21" Type="http://schemas.openxmlformats.org/officeDocument/2006/relationships/font" Target="fonts/ProximaNova-regular.fntdata"/><Relationship Id="rId13" Type="http://schemas.openxmlformats.org/officeDocument/2006/relationships/slide" Target="slides/slide7.xml"/><Relationship Id="rId24" Type="http://schemas.openxmlformats.org/officeDocument/2006/relationships/font" Target="fonts/ProximaNova-boldItalic.fntdata"/><Relationship Id="rId12" Type="http://schemas.openxmlformats.org/officeDocument/2006/relationships/slide" Target="slides/slide6.xml"/><Relationship Id="rId23" Type="http://schemas.openxmlformats.org/officeDocument/2006/relationships/font" Target="fonts/ProximaNov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742e3e7cd_1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742e3e7cd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cbab3a369_1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cbab3a369_1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742e3e7cd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742e3e7cd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d4400e73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d4400e73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d9c40d9f9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d9c40d9f9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d93d16c9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d93d16c9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d93d16c9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d93d16c9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d9c40d9f9_0_2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d9c40d9f9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d93d16c90_0_3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d93d16c9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d93d16c90_0_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d93d16c9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d93d16c90_0_6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d93d16c9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cb9a3abeb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cb9a3abe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742e3e7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742e3e7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d5f4b554c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d5f4b554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cxnSp>
        <p:nvCxnSpPr>
          <p:cNvPr id="55" name="Google Shape;55;p14"/>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56" name="Google Shape;56;p14"/>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57" name="Google Shape;57;p14"/>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9" name="Shape 59"/>
        <p:cNvGrpSpPr/>
        <p:nvPr/>
      </p:nvGrpSpPr>
      <p:grpSpPr>
        <a:xfrm>
          <a:off x="0" y="0"/>
          <a:ext cx="0" cy="0"/>
          <a:chOff x="0" y="0"/>
          <a:chExt cx="0" cy="0"/>
        </a:xfrm>
      </p:grpSpPr>
      <p:cxnSp>
        <p:nvCxnSpPr>
          <p:cNvPr id="60" name="Google Shape;60;p15"/>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61" name="Google Shape;61;p15"/>
          <p:cNvSpPr txBox="1"/>
          <p:nvPr>
            <p:ph type="title"/>
          </p:nvPr>
        </p:nvSpPr>
        <p:spPr>
          <a:xfrm>
            <a:off x="510450" y="2057400"/>
            <a:ext cx="8123100" cy="778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62" name="Google Shape;62;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7" name="Google Shape;6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 name="Google Shape;70;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1" name="Google Shape;71;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2" name="Google Shape;72;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8" name="Google Shape;78;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9" name="Google Shape;79;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0" name="Shape 80"/>
        <p:cNvGrpSpPr/>
        <p:nvPr/>
      </p:nvGrpSpPr>
      <p:grpSpPr>
        <a:xfrm>
          <a:off x="0" y="0"/>
          <a:ext cx="0" cy="0"/>
          <a:chOff x="0" y="0"/>
          <a:chExt cx="0" cy="0"/>
        </a:xfrm>
      </p:grpSpPr>
      <p:sp>
        <p:nvSpPr>
          <p:cNvPr id="81" name="Google Shape;81;p20"/>
          <p:cNvSpPr txBox="1"/>
          <p:nvPr>
            <p:ph type="title"/>
          </p:nvPr>
        </p:nvSpPr>
        <p:spPr>
          <a:xfrm>
            <a:off x="490250" y="526350"/>
            <a:ext cx="57975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2" name="Google Shape;82;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 name="Google Shape;85;p21"/>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86" name="Google Shape;86;p21"/>
          <p:cNvSpPr txBox="1"/>
          <p:nvPr>
            <p:ph type="title"/>
          </p:nvPr>
        </p:nvSpPr>
        <p:spPr>
          <a:xfrm>
            <a:off x="265500" y="1205825"/>
            <a:ext cx="4045200" cy="1509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7" name="Google Shape;87;p21"/>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8" name="Google Shape;88;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89" name="Google Shape;8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p22"/>
          <p:cNvSpPr txBox="1"/>
          <p:nvPr>
            <p:ph idx="1" type="body"/>
          </p:nvPr>
        </p:nvSpPr>
        <p:spPr>
          <a:xfrm>
            <a:off x="311700" y="42368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100"/>
              <a:buNone/>
              <a:defRPr sz="2100"/>
            </a:lvl1pPr>
          </a:lstStyle>
          <a:p/>
        </p:txBody>
      </p:sp>
      <p:sp>
        <p:nvSpPr>
          <p:cNvPr id="92" name="Google Shape;92;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3"/>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0"/>
              <a:buNone/>
              <a:defRPr b="1" sz="14000"/>
            </a:lvl1pPr>
            <a:lvl2pPr lvl="1" rtl="0" algn="ctr">
              <a:spcBef>
                <a:spcPts val="0"/>
              </a:spcBef>
              <a:spcAft>
                <a:spcPts val="0"/>
              </a:spcAft>
              <a:buSzPts val="14000"/>
              <a:buNone/>
              <a:defRPr b="1" sz="14000"/>
            </a:lvl2pPr>
            <a:lvl3pPr lvl="2" rtl="0" algn="ctr">
              <a:spcBef>
                <a:spcPts val="0"/>
              </a:spcBef>
              <a:spcAft>
                <a:spcPts val="0"/>
              </a:spcAft>
              <a:buSzPts val="14000"/>
              <a:buNone/>
              <a:defRPr b="1" sz="14000"/>
            </a:lvl3pPr>
            <a:lvl4pPr lvl="3" rtl="0" algn="ctr">
              <a:spcBef>
                <a:spcPts val="0"/>
              </a:spcBef>
              <a:spcAft>
                <a:spcPts val="0"/>
              </a:spcAft>
              <a:buSzPts val="14000"/>
              <a:buNone/>
              <a:defRPr b="1" sz="14000"/>
            </a:lvl4pPr>
            <a:lvl5pPr lvl="4" rtl="0" algn="ctr">
              <a:spcBef>
                <a:spcPts val="0"/>
              </a:spcBef>
              <a:spcAft>
                <a:spcPts val="0"/>
              </a:spcAft>
              <a:buSzPts val="14000"/>
              <a:buNone/>
              <a:defRPr b="1" sz="14000"/>
            </a:lvl5pPr>
            <a:lvl6pPr lvl="5" rtl="0" algn="ctr">
              <a:spcBef>
                <a:spcPts val="0"/>
              </a:spcBef>
              <a:spcAft>
                <a:spcPts val="0"/>
              </a:spcAft>
              <a:buSzPts val="14000"/>
              <a:buNone/>
              <a:defRPr b="1" sz="14000"/>
            </a:lvl6pPr>
            <a:lvl7pPr lvl="6" rtl="0" algn="ctr">
              <a:spcBef>
                <a:spcPts val="0"/>
              </a:spcBef>
              <a:spcAft>
                <a:spcPts val="0"/>
              </a:spcAft>
              <a:buSzPts val="14000"/>
              <a:buNone/>
              <a:defRPr b="1" sz="14000"/>
            </a:lvl7pPr>
            <a:lvl8pPr lvl="7" rtl="0" algn="ctr">
              <a:spcBef>
                <a:spcPts val="0"/>
              </a:spcBef>
              <a:spcAft>
                <a:spcPts val="0"/>
              </a:spcAft>
              <a:buSzPts val="14000"/>
              <a:buNone/>
              <a:defRPr b="1" sz="14000"/>
            </a:lvl8pPr>
            <a:lvl9pPr lvl="8" rtl="0" algn="ctr">
              <a:spcBef>
                <a:spcPts val="0"/>
              </a:spcBef>
              <a:spcAft>
                <a:spcPts val="0"/>
              </a:spcAft>
              <a:buSzPts val="14000"/>
              <a:buNone/>
              <a:defRPr b="1" sz="14000"/>
            </a:lvl9pPr>
          </a:lstStyle>
          <a:p>
            <a:r>
              <a:t>xx%</a:t>
            </a:r>
          </a:p>
        </p:txBody>
      </p:sp>
      <p:sp>
        <p:nvSpPr>
          <p:cNvPr id="96" name="Google Shape;96;p23"/>
          <p:cNvSpPr txBox="1"/>
          <p:nvPr>
            <p:ph idx="1" type="body"/>
          </p:nvPr>
        </p:nvSpPr>
        <p:spPr>
          <a:xfrm>
            <a:off x="311700" y="3071300"/>
            <a:ext cx="8520600" cy="901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7" name="Google Shape;97;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rtl="0">
              <a:lnSpc>
                <a:spcPct val="115000"/>
              </a:lnSpc>
              <a:spcBef>
                <a:spcPts val="1600"/>
              </a:spcBef>
              <a:spcAft>
                <a:spcPts val="160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Proxima Nova"/>
                <a:ea typeface="Proxima Nova"/>
                <a:cs typeface="Proxima Nova"/>
                <a:sym typeface="Proxima Nova"/>
              </a:defRPr>
            </a:lvl1pPr>
            <a:lvl2pPr lvl="1" rtl="0" algn="r">
              <a:buNone/>
              <a:defRPr sz="1000">
                <a:solidFill>
                  <a:schemeClr val="dk1"/>
                </a:solidFill>
                <a:latin typeface="Proxima Nova"/>
                <a:ea typeface="Proxima Nova"/>
                <a:cs typeface="Proxima Nova"/>
                <a:sym typeface="Proxima Nova"/>
              </a:defRPr>
            </a:lvl2pPr>
            <a:lvl3pPr lvl="2" rtl="0" algn="r">
              <a:buNone/>
              <a:defRPr sz="1000">
                <a:solidFill>
                  <a:schemeClr val="dk1"/>
                </a:solidFill>
                <a:latin typeface="Proxima Nova"/>
                <a:ea typeface="Proxima Nova"/>
                <a:cs typeface="Proxima Nova"/>
                <a:sym typeface="Proxima Nova"/>
              </a:defRPr>
            </a:lvl3pPr>
            <a:lvl4pPr lvl="3" rtl="0" algn="r">
              <a:buNone/>
              <a:defRPr sz="1000">
                <a:solidFill>
                  <a:schemeClr val="dk1"/>
                </a:solidFill>
                <a:latin typeface="Proxima Nova"/>
                <a:ea typeface="Proxima Nova"/>
                <a:cs typeface="Proxima Nova"/>
                <a:sym typeface="Proxima Nova"/>
              </a:defRPr>
            </a:lvl4pPr>
            <a:lvl5pPr lvl="4" rtl="0" algn="r">
              <a:buNone/>
              <a:defRPr sz="1000">
                <a:solidFill>
                  <a:schemeClr val="dk1"/>
                </a:solidFill>
                <a:latin typeface="Proxima Nova"/>
                <a:ea typeface="Proxima Nova"/>
                <a:cs typeface="Proxima Nova"/>
                <a:sym typeface="Proxima Nova"/>
              </a:defRPr>
            </a:lvl5pPr>
            <a:lvl6pPr lvl="5" rtl="0" algn="r">
              <a:buNone/>
              <a:defRPr sz="1000">
                <a:solidFill>
                  <a:schemeClr val="dk1"/>
                </a:solidFill>
                <a:latin typeface="Proxima Nova"/>
                <a:ea typeface="Proxima Nova"/>
                <a:cs typeface="Proxima Nova"/>
                <a:sym typeface="Proxima Nova"/>
              </a:defRPr>
            </a:lvl6pPr>
            <a:lvl7pPr lvl="6" rtl="0" algn="r">
              <a:buNone/>
              <a:defRPr sz="1000">
                <a:solidFill>
                  <a:schemeClr val="dk1"/>
                </a:solidFill>
                <a:latin typeface="Proxima Nova"/>
                <a:ea typeface="Proxima Nova"/>
                <a:cs typeface="Proxima Nova"/>
                <a:sym typeface="Proxima Nova"/>
              </a:defRPr>
            </a:lvl7pPr>
            <a:lvl8pPr lvl="7" rtl="0" algn="r">
              <a:buNone/>
              <a:defRPr sz="1000">
                <a:solidFill>
                  <a:schemeClr val="dk1"/>
                </a:solidFill>
                <a:latin typeface="Proxima Nova"/>
                <a:ea typeface="Proxima Nova"/>
                <a:cs typeface="Proxima Nova"/>
                <a:sym typeface="Proxima Nova"/>
              </a:defRPr>
            </a:lvl8pPr>
            <a:lvl9pPr lvl="8" rtl="0"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White cloud in front of dark blue star-filled sky" id="104" name="Google Shape;104;p25"/>
          <p:cNvPicPr preferRelativeResize="0"/>
          <p:nvPr/>
        </p:nvPicPr>
        <p:blipFill>
          <a:blip r:embed="rId3">
            <a:alphaModFix/>
          </a:blip>
          <a:stretch>
            <a:fillRect/>
          </a:stretch>
        </p:blipFill>
        <p:spPr>
          <a:xfrm>
            <a:off x="0" y="-476250"/>
            <a:ext cx="9144001" cy="6096001"/>
          </a:xfrm>
          <a:prstGeom prst="rect">
            <a:avLst/>
          </a:prstGeom>
          <a:noFill/>
          <a:ln>
            <a:noFill/>
          </a:ln>
        </p:spPr>
      </p:pic>
      <p:sp>
        <p:nvSpPr>
          <p:cNvPr id="105" name="Google Shape;105;p25"/>
          <p:cNvSpPr txBox="1"/>
          <p:nvPr>
            <p:ph type="ctrTitle"/>
          </p:nvPr>
        </p:nvSpPr>
        <p:spPr>
          <a:xfrm>
            <a:off x="510450" y="122050"/>
            <a:ext cx="7966200" cy="105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Machine Learn</a:t>
            </a:r>
            <a:r>
              <a:rPr lang="en" sz="5200"/>
              <a:t>ing</a:t>
            </a:r>
            <a:r>
              <a:rPr lang="en" sz="5500"/>
              <a:t> Project</a:t>
            </a:r>
            <a:endParaRPr sz="5500"/>
          </a:p>
        </p:txBody>
      </p:sp>
      <p:sp>
        <p:nvSpPr>
          <p:cNvPr id="106" name="Google Shape;106;p25"/>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
            </a:r>
            <a:r>
              <a:rPr lang="en" sz="2400"/>
              <a:t>y:</a:t>
            </a:r>
            <a:r>
              <a:rPr lang="en"/>
              <a:t> Gladys Obol Acaa</a:t>
            </a:r>
            <a:endParaRPr/>
          </a:p>
          <a:p>
            <a:pPr indent="0" lvl="0" marL="0" rtl="0" algn="l">
              <a:spcBef>
                <a:spcPts val="0"/>
              </a:spcBef>
              <a:spcAft>
                <a:spcPts val="0"/>
              </a:spcAft>
              <a:buNone/>
            </a:pPr>
            <a:r>
              <a:rPr lang="en"/>
              <a:t>      2025/HD05/26332U</a:t>
            </a:r>
            <a:endParaRPr/>
          </a:p>
          <a:p>
            <a:pPr indent="0" lvl="0" marL="0" rtl="0" algn="l">
              <a:spcBef>
                <a:spcPts val="0"/>
              </a:spcBef>
              <a:spcAft>
                <a:spcPts val="0"/>
              </a:spcAft>
              <a:buNone/>
            </a:pPr>
            <a:r>
              <a:rPr lang="en"/>
              <a:t>      2500726332</a:t>
            </a:r>
            <a:endParaRPr/>
          </a:p>
          <a:p>
            <a:pPr indent="0" lvl="0" marL="0" rtl="0" algn="l">
              <a:spcBef>
                <a:spcPts val="0"/>
              </a:spcBef>
              <a:spcAft>
                <a:spcPts val="0"/>
              </a:spcAft>
              <a:buNone/>
            </a:pPr>
            <a:r>
              <a:t/>
            </a:r>
            <a:endParaRPr/>
          </a:p>
        </p:txBody>
      </p:sp>
      <p:sp>
        <p:nvSpPr>
          <p:cNvPr id="107" name="Google Shape;107;p25"/>
          <p:cNvSpPr txBox="1"/>
          <p:nvPr>
            <p:ph idx="1" type="subTitle"/>
          </p:nvPr>
        </p:nvSpPr>
        <p:spPr>
          <a:xfrm>
            <a:off x="510450" y="1249827"/>
            <a:ext cx="8123100" cy="842400"/>
          </a:xfrm>
          <a:prstGeom prst="rect">
            <a:avLst/>
          </a:prstGeom>
        </p:spPr>
        <p:txBody>
          <a:bodyPr anchorCtr="0" anchor="t" bIns="91425" lIns="91425" spcFirstLastPara="1" rIns="91425" wrap="square" tIns="91425">
            <a:noAutofit/>
          </a:bodyPr>
          <a:lstStyle/>
          <a:p>
            <a:pPr indent="0" lvl="0" marL="0" rtl="0" algn="ctr">
              <a:lnSpc>
                <a:spcPct val="115000"/>
              </a:lnSpc>
              <a:spcBef>
                <a:spcPts val="1800"/>
              </a:spcBef>
              <a:spcAft>
                <a:spcPts val="400"/>
              </a:spcAft>
              <a:buNone/>
            </a:pPr>
            <a:r>
              <a:rPr b="1" lang="en" sz="2300">
                <a:latin typeface="Times New Roman"/>
                <a:ea typeface="Times New Roman"/>
                <a:cs typeface="Times New Roman"/>
                <a:sym typeface="Times New Roman"/>
              </a:rPr>
              <a:t>CROP YIELD ANALYSIS AND PREDICTION</a:t>
            </a:r>
            <a:r>
              <a:rPr b="1" lang="en" sz="2600">
                <a:solidFill>
                  <a:srgbClr val="000000"/>
                </a:solidFill>
                <a:latin typeface="Times New Roman"/>
                <a:ea typeface="Times New Roman"/>
                <a:cs typeface="Times New Roman"/>
                <a:sym typeface="Times New Roman"/>
              </a:rPr>
              <a:t> </a:t>
            </a:r>
            <a:endParaRPr sz="2700"/>
          </a:p>
        </p:txBody>
      </p:sp>
      <p:cxnSp>
        <p:nvCxnSpPr>
          <p:cNvPr id="108" name="Google Shape;108;p25"/>
          <p:cNvCxnSpPr/>
          <p:nvPr/>
        </p:nvCxnSpPr>
        <p:spPr>
          <a:xfrm>
            <a:off x="615150" y="2998025"/>
            <a:ext cx="5004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6"/>
          <p:cNvSpPr txBox="1"/>
          <p:nvPr>
            <p:ph type="title"/>
          </p:nvPr>
        </p:nvSpPr>
        <p:spPr>
          <a:xfrm>
            <a:off x="311700" y="2881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000"/>
              <a:t>Introduction</a:t>
            </a:r>
            <a:endParaRPr b="1" sz="4000"/>
          </a:p>
        </p:txBody>
      </p:sp>
      <p:sp>
        <p:nvSpPr>
          <p:cNvPr id="114" name="Google Shape;114;p26"/>
          <p:cNvSpPr txBox="1"/>
          <p:nvPr>
            <p:ph idx="1" type="body"/>
          </p:nvPr>
        </p:nvSpPr>
        <p:spPr>
          <a:xfrm>
            <a:off x="311700" y="1099975"/>
            <a:ext cx="8691000" cy="3776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600">
                <a:solidFill>
                  <a:srgbClr val="000000"/>
                </a:solidFill>
                <a:latin typeface="Times New Roman"/>
                <a:ea typeface="Times New Roman"/>
                <a:cs typeface="Times New Roman"/>
                <a:sym typeface="Times New Roman"/>
              </a:rPr>
              <a:t>Agriculture remains the backbone of many economies. In Uganda t</a:t>
            </a:r>
            <a:r>
              <a:rPr lang="en" sz="1550">
                <a:solidFill>
                  <a:srgbClr val="000000"/>
                </a:solidFill>
                <a:highlight>
                  <a:srgbClr val="FFFFFF"/>
                </a:highlight>
                <a:latin typeface="Times New Roman"/>
                <a:ea typeface="Times New Roman"/>
                <a:cs typeface="Times New Roman"/>
                <a:sym typeface="Times New Roman"/>
              </a:rPr>
              <a:t>he sector accounts for the largest share of employment (47%) and close to 80% of all households in Uganda are involved in agriculture.</a:t>
            </a:r>
            <a:r>
              <a:rPr lang="en" sz="1600">
                <a:solidFill>
                  <a:srgbClr val="000000"/>
                </a:solidFill>
                <a:latin typeface="Times New Roman"/>
                <a:ea typeface="Times New Roman"/>
                <a:cs typeface="Times New Roman"/>
                <a:sym typeface="Times New Roman"/>
              </a:rPr>
              <a:t> </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600">
                <a:solidFill>
                  <a:srgbClr val="000000"/>
                </a:solidFill>
                <a:latin typeface="Times New Roman"/>
                <a:ea typeface="Times New Roman"/>
                <a:cs typeface="Times New Roman"/>
                <a:sym typeface="Times New Roman"/>
              </a:rPr>
              <a:t>Farm productivity is often constrained by unpredictable weather conditions, pest infestations, soil degradation, inefficient use of resources, and lower crop yields which  directly affect food security and farmer livelihoods. </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600">
                <a:solidFill>
                  <a:srgbClr val="000000"/>
                </a:solidFill>
                <a:latin typeface="Times New Roman"/>
                <a:ea typeface="Times New Roman"/>
                <a:cs typeface="Times New Roman"/>
                <a:sym typeface="Times New Roman"/>
              </a:rPr>
              <a:t>Traditional methods of predicting crop yields like maize  rely on historical averages and subjective judgments, which are often inaccurate and fail to capture the complexity of modern agricultural ecosystems.</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600">
                <a:solidFill>
                  <a:srgbClr val="000000"/>
                </a:solidFill>
                <a:latin typeface="Times New Roman"/>
                <a:ea typeface="Times New Roman"/>
                <a:cs typeface="Times New Roman"/>
                <a:sym typeface="Times New Roman"/>
              </a:rPr>
              <a:t>Using Machine Learning models (ML),farmers and agricultural planners can make informed decisions about crop selection, input optimization, and resource allocation ultimately improving yield and sustainability.</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5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7"/>
          <p:cNvSpPr txBox="1"/>
          <p:nvPr>
            <p:ph type="title"/>
          </p:nvPr>
        </p:nvSpPr>
        <p:spPr>
          <a:xfrm>
            <a:off x="90900" y="1284425"/>
            <a:ext cx="4378500" cy="1509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t>Problem Statement</a:t>
            </a:r>
            <a:endParaRPr b="1"/>
          </a:p>
        </p:txBody>
      </p:sp>
      <p:sp>
        <p:nvSpPr>
          <p:cNvPr id="120" name="Google Shape;120;p27"/>
          <p:cNvSpPr txBox="1"/>
          <p:nvPr>
            <p:ph idx="2" type="body"/>
          </p:nvPr>
        </p:nvSpPr>
        <p:spPr>
          <a:xfrm>
            <a:off x="4730850" y="1284425"/>
            <a:ext cx="4236600" cy="3134700"/>
          </a:xfrm>
          <a:prstGeom prst="rect">
            <a:avLst/>
          </a:prstGeom>
        </p:spPr>
        <p:txBody>
          <a:bodyPr anchorCtr="0" anchor="ctr" bIns="91425" lIns="91425" spcFirstLastPara="1" rIns="91425" wrap="square" tIns="91425">
            <a:noAutofit/>
          </a:bodyPr>
          <a:lstStyle/>
          <a:p>
            <a:pPr indent="0" lvl="0" marL="0" rtl="0" algn="l">
              <a:spcBef>
                <a:spcPts val="1200"/>
              </a:spcBef>
              <a:spcAft>
                <a:spcPts val="0"/>
              </a:spcAft>
              <a:buNone/>
            </a:pPr>
            <a:r>
              <a:t/>
            </a:r>
            <a:endParaRPr sz="1300">
              <a:latin typeface="Times New Roman"/>
              <a:ea typeface="Times New Roman"/>
              <a:cs typeface="Times New Roman"/>
              <a:sym typeface="Times New Roman"/>
            </a:endParaRPr>
          </a:p>
          <a:p>
            <a:pPr indent="0" lvl="0" marL="0" rtl="0" algn="l">
              <a:spcBef>
                <a:spcPts val="1200"/>
              </a:spcBef>
              <a:spcAft>
                <a:spcPts val="0"/>
              </a:spcAft>
              <a:buNone/>
            </a:pPr>
            <a:r>
              <a:t/>
            </a:r>
            <a:endParaRPr sz="1300">
              <a:latin typeface="Times New Roman"/>
              <a:ea typeface="Times New Roman"/>
              <a:cs typeface="Times New Roman"/>
              <a:sym typeface="Times New Roman"/>
            </a:endParaRPr>
          </a:p>
          <a:p>
            <a:pPr indent="0" lvl="0" marL="0" rtl="0" algn="l">
              <a:spcBef>
                <a:spcPts val="1200"/>
              </a:spcBef>
              <a:spcAft>
                <a:spcPts val="0"/>
              </a:spcAft>
              <a:buNone/>
            </a:pPr>
            <a:r>
              <a:t/>
            </a:r>
            <a:endParaRPr sz="1300">
              <a:latin typeface="Times New Roman"/>
              <a:ea typeface="Times New Roman"/>
              <a:cs typeface="Times New Roman"/>
              <a:sym typeface="Times New Roman"/>
            </a:endParaRPr>
          </a:p>
          <a:p>
            <a:pPr indent="0" lvl="0" marL="0" rtl="0" algn="l">
              <a:spcBef>
                <a:spcPts val="1200"/>
              </a:spcBef>
              <a:spcAft>
                <a:spcPts val="0"/>
              </a:spcAft>
              <a:buNone/>
            </a:pPr>
            <a:r>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n" sz="1600">
                <a:latin typeface="Times New Roman"/>
                <a:ea typeface="Times New Roman"/>
                <a:cs typeface="Times New Roman"/>
                <a:sym typeface="Times New Roman"/>
              </a:rPr>
              <a:t>Farmers lack accurate and timely predictions of crop yields due to limited access to intelligent analytical tools. Existing methods are unable to integrate large datasets involving climate, soil quality, and management practices, resulting in yield uncertainty and economic loss.</a:t>
            </a:r>
            <a:endParaRPr sz="1600">
              <a:latin typeface="Times New Roman"/>
              <a:ea typeface="Times New Roman"/>
              <a:cs typeface="Times New Roman"/>
              <a:sym typeface="Times New Roman"/>
            </a:endParaRPr>
          </a:p>
          <a:p>
            <a:pPr indent="0" lvl="0" marL="0" rtl="0" algn="l">
              <a:spcBef>
                <a:spcPts val="1200"/>
              </a:spcBef>
              <a:spcAft>
                <a:spcPts val="0"/>
              </a:spcAft>
              <a:buNone/>
            </a:pPr>
            <a:r>
              <a:rPr lang="en" sz="1600">
                <a:latin typeface="Times New Roman"/>
                <a:ea typeface="Times New Roman"/>
                <a:cs typeface="Times New Roman"/>
                <a:sym typeface="Times New Roman"/>
              </a:rPr>
              <a:t>Therefore, there is a need for a machine learning based system that can analyze farm data and predict yield outcomes to guide farmers in making evidence-based decisions.</a:t>
            </a:r>
            <a:endParaRPr sz="1600">
              <a:latin typeface="Times New Roman"/>
              <a:ea typeface="Times New Roman"/>
              <a:cs typeface="Times New Roman"/>
              <a:sym typeface="Times New Roman"/>
            </a:endParaRPr>
          </a:p>
          <a:p>
            <a:pPr indent="0" lvl="0" marL="0" rtl="0" algn="l">
              <a:spcBef>
                <a:spcPts val="1200"/>
              </a:spcBef>
              <a:spcAft>
                <a:spcPts val="0"/>
              </a:spcAft>
              <a:buNone/>
            </a:pPr>
            <a:r>
              <a:t/>
            </a:r>
            <a:endParaRPr sz="1400">
              <a:latin typeface="Times New Roman"/>
              <a:ea typeface="Times New Roman"/>
              <a:cs typeface="Times New Roman"/>
              <a:sym typeface="Times New Roman"/>
            </a:endParaRPr>
          </a:p>
          <a:p>
            <a:pPr indent="0" lvl="0" marL="0" rtl="0" algn="l">
              <a:spcBef>
                <a:spcPts val="1200"/>
              </a:spcBef>
              <a:spcAft>
                <a:spcPts val="0"/>
              </a:spcAft>
              <a:buNone/>
            </a:pPr>
            <a:r>
              <a:t/>
            </a:r>
            <a:endParaRPr sz="1100">
              <a:latin typeface="Times New Roman"/>
              <a:ea typeface="Times New Roman"/>
              <a:cs typeface="Times New Roman"/>
              <a:sym typeface="Times New Roman"/>
            </a:endParaRPr>
          </a:p>
          <a:p>
            <a:pPr indent="0" lvl="0" marL="0" rtl="0" algn="l">
              <a:spcBef>
                <a:spcPts val="1200"/>
              </a:spcBef>
              <a:spcAft>
                <a:spcPts val="0"/>
              </a:spcAft>
              <a:buNone/>
            </a:pPr>
            <a:r>
              <a:t/>
            </a:r>
            <a:endParaRPr sz="1100">
              <a:latin typeface="Times New Roman"/>
              <a:ea typeface="Times New Roman"/>
              <a:cs typeface="Times New Roman"/>
              <a:sym typeface="Times New Roman"/>
            </a:endParaRPr>
          </a:p>
          <a:p>
            <a:pPr indent="0" lvl="0" marL="0" rtl="0" algn="l">
              <a:spcBef>
                <a:spcPts val="1200"/>
              </a:spcBef>
              <a:spcAft>
                <a:spcPts val="0"/>
              </a:spcAft>
              <a:buNone/>
            </a:pPr>
            <a:r>
              <a:t/>
            </a:r>
            <a:endParaRPr sz="1100">
              <a:latin typeface="Times New Roman"/>
              <a:ea typeface="Times New Roman"/>
              <a:cs typeface="Times New Roman"/>
              <a:sym typeface="Times New Roman"/>
            </a:endParaRPr>
          </a:p>
          <a:p>
            <a:pPr indent="0" lvl="0" marL="0" rtl="0" algn="l">
              <a:spcBef>
                <a:spcPts val="1200"/>
              </a:spcBef>
              <a:spcAft>
                <a:spcPts val="0"/>
              </a:spcAft>
              <a:buNone/>
            </a:pPr>
            <a:r>
              <a:t/>
            </a:r>
            <a:endParaRPr sz="1100">
              <a:latin typeface="Times New Roman"/>
              <a:ea typeface="Times New Roman"/>
              <a:cs typeface="Times New Roman"/>
              <a:sym typeface="Times New Roman"/>
            </a:endParaRPr>
          </a:p>
          <a:p>
            <a:pPr indent="0" lvl="0" marL="0" rtl="0" algn="l">
              <a:spcBef>
                <a:spcPts val="1200"/>
              </a:spcBef>
              <a:spcAft>
                <a:spcPts val="0"/>
              </a:spcAft>
              <a:buNone/>
            </a:pPr>
            <a:r>
              <a:t/>
            </a:r>
            <a:endParaRPr sz="1100">
              <a:latin typeface="Times New Roman"/>
              <a:ea typeface="Times New Roman"/>
              <a:cs typeface="Times New Roman"/>
              <a:sym typeface="Times New Roman"/>
            </a:endParaRPr>
          </a:p>
          <a:p>
            <a:pPr indent="0" lvl="0" marL="0" rtl="0" algn="l">
              <a:spcBef>
                <a:spcPts val="1200"/>
              </a:spcBef>
              <a:spcAft>
                <a:spcPts val="0"/>
              </a:spcAft>
              <a:buNone/>
            </a:pPr>
            <a:r>
              <a:t/>
            </a:r>
            <a:endParaRPr sz="1100">
              <a:latin typeface="Times New Roman"/>
              <a:ea typeface="Times New Roman"/>
              <a:cs typeface="Times New Roman"/>
              <a:sym typeface="Times New Roman"/>
            </a:endParaRPr>
          </a:p>
          <a:p>
            <a:pPr indent="0" lvl="0" marL="0" rtl="0" algn="l">
              <a:spcBef>
                <a:spcPts val="1200"/>
              </a:spcBef>
              <a:spcAft>
                <a:spcPts val="1600"/>
              </a:spcAft>
              <a:buNone/>
            </a:pPr>
            <a:r>
              <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8"/>
          <p:cNvSpPr txBox="1"/>
          <p:nvPr>
            <p:ph type="title"/>
          </p:nvPr>
        </p:nvSpPr>
        <p:spPr>
          <a:xfrm>
            <a:off x="1051950" y="273150"/>
            <a:ext cx="6276900" cy="74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200"/>
              <a:t>Objectives</a:t>
            </a:r>
            <a:endParaRPr b="1" sz="2000"/>
          </a:p>
          <a:p>
            <a:pPr indent="0" lvl="0" marL="0" rtl="0" algn="l">
              <a:spcBef>
                <a:spcPts val="0"/>
              </a:spcBef>
              <a:spcAft>
                <a:spcPts val="0"/>
              </a:spcAft>
              <a:buNone/>
            </a:pPr>
            <a:r>
              <a:t/>
            </a:r>
            <a:endParaRPr sz="4400"/>
          </a:p>
        </p:txBody>
      </p:sp>
      <p:sp>
        <p:nvSpPr>
          <p:cNvPr id="126" name="Google Shape;126;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600">
                <a:solidFill>
                  <a:srgbClr val="000000"/>
                </a:solidFill>
                <a:latin typeface="Times New Roman"/>
                <a:ea typeface="Times New Roman"/>
                <a:cs typeface="Times New Roman"/>
                <a:sym typeface="Times New Roman"/>
              </a:rPr>
              <a:t>Main Objective</a:t>
            </a:r>
            <a:endParaRPr b="1" sz="1600">
              <a:solidFill>
                <a:srgbClr val="000000"/>
              </a:solidFill>
              <a:latin typeface="Times New Roman"/>
              <a:ea typeface="Times New Roman"/>
              <a:cs typeface="Times New Roman"/>
              <a:sym typeface="Times New Roman"/>
            </a:endParaRPr>
          </a:p>
          <a:p>
            <a:pPr indent="-330200" lvl="0" marL="457200" rtl="0" algn="l">
              <a:spcBef>
                <a:spcPts val="120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To design and develop a Machine Learning–based model for analyzing farm data and predicting crop yields e.g maize with high accuracy.</a:t>
            </a:r>
            <a:endParaRPr sz="1600">
              <a:solidFill>
                <a:srgbClr val="000000"/>
              </a:solidFill>
              <a:latin typeface="Times New Roman"/>
              <a:ea typeface="Times New Roman"/>
              <a:cs typeface="Times New Roman"/>
              <a:sym typeface="Times New Roman"/>
            </a:endParaRPr>
          </a:p>
          <a:p>
            <a:pPr indent="0" lvl="0" marL="0" rtl="0" algn="l">
              <a:spcBef>
                <a:spcPts val="1400"/>
              </a:spcBef>
              <a:spcAft>
                <a:spcPts val="400"/>
              </a:spcAft>
              <a:buNone/>
            </a:pPr>
            <a:r>
              <a:t/>
            </a:r>
            <a:endParaRPr b="1" sz="1300">
              <a:solidFill>
                <a:srgbClr val="000000"/>
              </a:solidFill>
              <a:latin typeface="Times New Roman"/>
              <a:ea typeface="Times New Roman"/>
              <a:cs typeface="Times New Roman"/>
              <a:sym typeface="Times New Roman"/>
            </a:endParaRPr>
          </a:p>
        </p:txBody>
      </p:sp>
      <p:sp>
        <p:nvSpPr>
          <p:cNvPr id="127" name="Google Shape;127;p28"/>
          <p:cNvSpPr txBox="1"/>
          <p:nvPr>
            <p:ph idx="2" type="body"/>
          </p:nvPr>
        </p:nvSpPr>
        <p:spPr>
          <a:xfrm>
            <a:off x="4451900" y="1017750"/>
            <a:ext cx="4380300" cy="39630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sz="1600">
                <a:solidFill>
                  <a:srgbClr val="000000"/>
                </a:solidFill>
                <a:latin typeface="Times New Roman"/>
                <a:ea typeface="Times New Roman"/>
                <a:cs typeface="Times New Roman"/>
                <a:sym typeface="Times New Roman"/>
              </a:rPr>
              <a:t>Specific Objectives</a:t>
            </a:r>
            <a:endParaRPr b="1" sz="1600">
              <a:solidFill>
                <a:srgbClr val="000000"/>
              </a:solidFill>
              <a:latin typeface="Times New Roman"/>
              <a:ea typeface="Times New Roman"/>
              <a:cs typeface="Times New Roman"/>
              <a:sym typeface="Times New Roman"/>
            </a:endParaRPr>
          </a:p>
          <a:p>
            <a:pPr indent="-330200" lvl="0" marL="457200" rtl="0" algn="l">
              <a:spcBef>
                <a:spcPts val="1200"/>
              </a:spcBef>
              <a:spcAft>
                <a:spcPts val="0"/>
              </a:spcAft>
              <a:buClr>
                <a:srgbClr val="000000"/>
              </a:buClr>
              <a:buSzPts val="1600"/>
              <a:buFont typeface="Times New Roman"/>
              <a:buAutoNum type="arabicPeriod"/>
            </a:pPr>
            <a:r>
              <a:rPr lang="en" sz="1600">
                <a:solidFill>
                  <a:srgbClr val="000000"/>
                </a:solidFill>
                <a:latin typeface="Times New Roman"/>
                <a:ea typeface="Times New Roman"/>
                <a:cs typeface="Times New Roman"/>
                <a:sym typeface="Times New Roman"/>
              </a:rPr>
              <a:t>To collect and preprocess data on soil, weather, and crop characteristics.</a:t>
            </a:r>
            <a:br>
              <a:rPr lang="en" sz="1600">
                <a:solidFill>
                  <a:srgbClr val="000000"/>
                </a:solidFill>
                <a:latin typeface="Times New Roman"/>
                <a:ea typeface="Times New Roman"/>
                <a:cs typeface="Times New Roman"/>
                <a:sym typeface="Times New Roman"/>
              </a:rPr>
            </a:br>
            <a:endParaRPr sz="1600">
              <a:solidFill>
                <a:srgbClr val="000000"/>
              </a:solidFill>
              <a:latin typeface="Times New Roman"/>
              <a:ea typeface="Times New Roman"/>
              <a:cs typeface="Times New Roman"/>
              <a:sym typeface="Times New Roman"/>
            </a:endParaRPr>
          </a:p>
          <a:p>
            <a:pPr indent="-330200" lvl="0" marL="457200" rtl="0" algn="l">
              <a:spcBef>
                <a:spcPts val="0"/>
              </a:spcBef>
              <a:spcAft>
                <a:spcPts val="0"/>
              </a:spcAft>
              <a:buClr>
                <a:srgbClr val="000000"/>
              </a:buClr>
              <a:buSzPts val="1600"/>
              <a:buFont typeface="Times New Roman"/>
              <a:buAutoNum type="arabicPeriod"/>
            </a:pPr>
            <a:r>
              <a:rPr lang="en" sz="1600">
                <a:solidFill>
                  <a:srgbClr val="000000"/>
                </a:solidFill>
                <a:latin typeface="Times New Roman"/>
                <a:ea typeface="Times New Roman"/>
                <a:cs typeface="Times New Roman"/>
                <a:sym typeface="Times New Roman"/>
              </a:rPr>
              <a:t>To train and compare multiple machine learning algorithms for yield prediction (e.g., Logistic Regression, Random Forest,).</a:t>
            </a:r>
            <a:endParaRPr sz="1600">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1600">
              <a:solidFill>
                <a:srgbClr val="000000"/>
              </a:solidFill>
              <a:latin typeface="Times New Roman"/>
              <a:ea typeface="Times New Roman"/>
              <a:cs typeface="Times New Roman"/>
              <a:sym typeface="Times New Roman"/>
            </a:endParaRPr>
          </a:p>
          <a:p>
            <a:pPr indent="-330200" lvl="0" marL="457200" rtl="0" algn="l">
              <a:spcBef>
                <a:spcPts val="1200"/>
              </a:spcBef>
              <a:spcAft>
                <a:spcPts val="0"/>
              </a:spcAft>
              <a:buClr>
                <a:srgbClr val="000000"/>
              </a:buClr>
              <a:buSzPts val="1600"/>
              <a:buFont typeface="Times New Roman"/>
              <a:buAutoNum type="arabicPeriod"/>
            </a:pPr>
            <a:r>
              <a:rPr lang="en" sz="1600">
                <a:solidFill>
                  <a:srgbClr val="000000"/>
                </a:solidFill>
                <a:latin typeface="Times New Roman"/>
                <a:ea typeface="Times New Roman"/>
                <a:cs typeface="Times New Roman"/>
                <a:sym typeface="Times New Roman"/>
              </a:rPr>
              <a:t>To visualize the relationship between different farm parameters and yield outcomes.</a:t>
            </a:r>
            <a:endParaRPr b="1" sz="1800">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9"/>
          <p:cNvSpPr txBox="1"/>
          <p:nvPr>
            <p:ph type="title"/>
          </p:nvPr>
        </p:nvSpPr>
        <p:spPr>
          <a:xfrm>
            <a:off x="311700" y="78875"/>
            <a:ext cx="4541100" cy="76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200"/>
              <a:t>Literature Review</a:t>
            </a:r>
            <a:endParaRPr sz="3600"/>
          </a:p>
        </p:txBody>
      </p:sp>
      <p:sp>
        <p:nvSpPr>
          <p:cNvPr id="133" name="Google Shape;133;p29"/>
          <p:cNvSpPr txBox="1"/>
          <p:nvPr>
            <p:ph idx="1" type="body"/>
          </p:nvPr>
        </p:nvSpPr>
        <p:spPr>
          <a:xfrm>
            <a:off x="311700" y="848675"/>
            <a:ext cx="8520600" cy="4010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600">
                <a:solidFill>
                  <a:srgbClr val="000000"/>
                </a:solidFill>
                <a:latin typeface="Times New Roman"/>
                <a:ea typeface="Times New Roman"/>
                <a:cs typeface="Times New Roman"/>
                <a:sym typeface="Times New Roman"/>
              </a:rPr>
              <a:t>A variety of agricultural datasets encompassing genomic, phenomic, climatic, and remote sensing data have been utilized to develop ML models for yield prediction.</a:t>
            </a:r>
            <a:endParaRPr sz="1450">
              <a:solidFill>
                <a:srgbClr val="000000"/>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rPr lang="en" sz="1600">
                <a:solidFill>
                  <a:srgbClr val="000000"/>
                </a:solidFill>
                <a:highlight>
                  <a:srgbClr val="FFFFFF"/>
                </a:highlight>
                <a:latin typeface="Times New Roman"/>
                <a:ea typeface="Times New Roman"/>
                <a:cs typeface="Times New Roman"/>
                <a:sym typeface="Times New Roman"/>
              </a:rPr>
              <a:t>In Zimbabwe, an applied study combined historical climate data and satellite imagery to train ML models including Random Forest (RF), Support Vector Machines (SVM), and Neural Networks. Results showed RF achieving the highest accuracy (87.5%) in yield prediction.</a:t>
            </a:r>
            <a:endParaRPr sz="1600">
              <a:solidFill>
                <a:srgbClr val="000000"/>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rPr lang="en" sz="1500">
                <a:solidFill>
                  <a:srgbClr val="000000"/>
                </a:solidFill>
                <a:latin typeface="Times New Roman"/>
                <a:ea typeface="Times New Roman"/>
                <a:cs typeface="Times New Roman"/>
                <a:sym typeface="Times New Roman"/>
              </a:rPr>
              <a:t>To fill these gaps, the research objective is to develop a machine-learning based approach to estimate and predict crop yield at a fine scale but over a large area of interest. </a:t>
            </a:r>
            <a:endParaRPr sz="1500">
              <a:solidFill>
                <a:srgbClr val="000000"/>
              </a:solidFill>
              <a:latin typeface="Times New Roman"/>
              <a:ea typeface="Times New Roman"/>
              <a:cs typeface="Times New Roman"/>
              <a:sym typeface="Times New Roman"/>
            </a:endParaRPr>
          </a:p>
          <a:p>
            <a:pPr indent="0" lvl="0" marL="0" rtl="0" algn="l">
              <a:spcBef>
                <a:spcPts val="600"/>
              </a:spcBef>
              <a:spcAft>
                <a:spcPts val="0"/>
              </a:spcAft>
              <a:buNone/>
            </a:pPr>
            <a:r>
              <a:rPr lang="en" sz="1500">
                <a:solidFill>
                  <a:srgbClr val="000000"/>
                </a:solidFill>
                <a:latin typeface="Times New Roman"/>
                <a:ea typeface="Times New Roman"/>
                <a:cs typeface="Times New Roman"/>
                <a:sym typeface="Times New Roman"/>
              </a:rPr>
              <a:t>To do this, supervised learning algorithms are deployed to calibrate and validate model performance. </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500">
                <a:solidFill>
                  <a:srgbClr val="000000"/>
                </a:solidFill>
                <a:latin typeface="Times New Roman"/>
                <a:ea typeface="Times New Roman"/>
                <a:cs typeface="Times New Roman"/>
                <a:sym typeface="Times New Roman"/>
              </a:rPr>
              <a:t>Specifically, this report addresses the following questions.</a:t>
            </a:r>
            <a:endParaRPr sz="1500">
              <a:solidFill>
                <a:srgbClr val="000000"/>
              </a:solidFill>
              <a:latin typeface="Times New Roman"/>
              <a:ea typeface="Times New Roman"/>
              <a:cs typeface="Times New Roman"/>
              <a:sym typeface="Times New Roman"/>
            </a:endParaRPr>
          </a:p>
          <a:p>
            <a:pPr indent="-323850" lvl="0" marL="457200" rtl="0" algn="l">
              <a:spcBef>
                <a:spcPts val="12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How does model performance vary across different regression and machine-learning approaches?</a:t>
            </a:r>
            <a:endParaRPr sz="15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How useful are ancillary spatial datasets, such as soil properties, rainfall, and temperature variables?</a:t>
            </a:r>
            <a:endParaRPr sz="15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What is the prediction accuracy?</a:t>
            </a:r>
            <a:endParaRPr b="1" sz="1500">
              <a:solidFill>
                <a:srgbClr val="000000"/>
              </a:solidFill>
              <a:latin typeface="Times New Roman"/>
              <a:ea typeface="Times New Roman"/>
              <a:cs typeface="Times New Roman"/>
              <a:sym typeface="Times New Roman"/>
            </a:endParaRPr>
          </a:p>
          <a:p>
            <a:pPr indent="0" lvl="0" marL="0" rtl="0" algn="l">
              <a:spcBef>
                <a:spcPts val="2400"/>
              </a:spcBef>
              <a:spcAft>
                <a:spcPts val="0"/>
              </a:spcAft>
              <a:buNone/>
            </a:pPr>
            <a:r>
              <a:t/>
            </a:r>
            <a:endParaRPr sz="1600">
              <a:solidFill>
                <a:srgbClr val="000000"/>
              </a:solidFill>
              <a:highlight>
                <a:srgbClr val="FFFFFF"/>
              </a:highlight>
              <a:latin typeface="Times New Roman"/>
              <a:ea typeface="Times New Roman"/>
              <a:cs typeface="Times New Roman"/>
              <a:sym typeface="Times New Roman"/>
            </a:endParaRPr>
          </a:p>
          <a:p>
            <a:pPr indent="0" lvl="0" marL="0" rtl="0" algn="l">
              <a:spcBef>
                <a:spcPts val="1200"/>
              </a:spcBef>
              <a:spcAft>
                <a:spcPts val="600"/>
              </a:spcAft>
              <a:buNone/>
            </a:pPr>
            <a:r>
              <a:t/>
            </a:r>
            <a:endParaRPr sz="1400">
              <a:solidFill>
                <a:srgbClr val="000000"/>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0"/>
          <p:cNvSpPr txBox="1"/>
          <p:nvPr>
            <p:ph type="title"/>
          </p:nvPr>
        </p:nvSpPr>
        <p:spPr>
          <a:xfrm>
            <a:off x="1069400" y="116250"/>
            <a:ext cx="6276900" cy="62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200"/>
              <a:t>Methodology</a:t>
            </a:r>
            <a:endParaRPr b="1" sz="2000"/>
          </a:p>
          <a:p>
            <a:pPr indent="0" lvl="0" marL="0" rtl="0" algn="l">
              <a:spcBef>
                <a:spcPts val="0"/>
              </a:spcBef>
              <a:spcAft>
                <a:spcPts val="0"/>
              </a:spcAft>
              <a:buNone/>
            </a:pPr>
            <a:r>
              <a:t/>
            </a:r>
            <a:endParaRPr sz="4400"/>
          </a:p>
        </p:txBody>
      </p:sp>
      <p:sp>
        <p:nvSpPr>
          <p:cNvPr id="139" name="Google Shape;139;p30"/>
          <p:cNvSpPr txBox="1"/>
          <p:nvPr>
            <p:ph idx="1" type="body"/>
          </p:nvPr>
        </p:nvSpPr>
        <p:spPr>
          <a:xfrm>
            <a:off x="75550" y="865975"/>
            <a:ext cx="5997900" cy="44985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None/>
            </a:pPr>
            <a:r>
              <a:rPr b="1" lang="en">
                <a:solidFill>
                  <a:srgbClr val="000000"/>
                </a:solidFill>
                <a:latin typeface="Times New Roman"/>
                <a:ea typeface="Times New Roman"/>
                <a:cs typeface="Times New Roman"/>
                <a:sym typeface="Times New Roman"/>
              </a:rPr>
              <a:t>Data </a:t>
            </a:r>
            <a:endParaRPr b="1">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300">
                <a:solidFill>
                  <a:srgbClr val="000000"/>
                </a:solidFill>
                <a:latin typeface="Times New Roman"/>
                <a:ea typeface="Times New Roman"/>
                <a:cs typeface="Times New Roman"/>
                <a:sym typeface="Times New Roman"/>
              </a:rPr>
              <a:t>Data was collected from Kaggle Agricultural Datasets.</a:t>
            </a:r>
            <a:endParaRPr sz="13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300">
                <a:solidFill>
                  <a:srgbClr val="000000"/>
                </a:solidFill>
                <a:latin typeface="Times New Roman"/>
                <a:ea typeface="Times New Roman"/>
                <a:cs typeface="Times New Roman"/>
                <a:sym typeface="Times New Roman"/>
              </a:rPr>
              <a:t>The datasets used in this study include rainfall data, temperature data, crop yield, soil pH and soil nutrients data.</a:t>
            </a:r>
            <a:r>
              <a:rPr lang="en" sz="1200">
                <a:solidFill>
                  <a:srgbClr val="000000"/>
                </a:solidFill>
                <a:latin typeface="Times New Roman"/>
                <a:ea typeface="Times New Roman"/>
                <a:cs typeface="Times New Roman"/>
                <a:sym typeface="Times New Roman"/>
              </a:rPr>
              <a:t> </a:t>
            </a:r>
            <a:r>
              <a:rPr lang="en" sz="1300">
                <a:solidFill>
                  <a:srgbClr val="000000"/>
                </a:solidFill>
                <a:highlight>
                  <a:srgbClr val="FFFFFF"/>
                </a:highlight>
                <a:latin typeface="Times New Roman"/>
                <a:ea typeface="Times New Roman"/>
                <a:cs typeface="Times New Roman"/>
                <a:sym typeface="Times New Roman"/>
              </a:rPr>
              <a:t>It provides insights into various aspects of agriculture, specifically focusing on farm-level details, crop types, soil pH, and associated metrics such as yield, temperature,humidity,and rainfall. </a:t>
            </a:r>
            <a:endParaRPr sz="1300">
              <a:solidFill>
                <a:srgbClr val="000000"/>
              </a:solidFill>
              <a:highlight>
                <a:srgbClr val="FFFFFF"/>
              </a:highlight>
              <a:latin typeface="Times New Roman"/>
              <a:ea typeface="Times New Roman"/>
              <a:cs typeface="Times New Roman"/>
              <a:sym typeface="Times New Roman"/>
            </a:endParaRPr>
          </a:p>
          <a:p>
            <a:pPr indent="0" lvl="0" marL="0" rtl="0" algn="l">
              <a:spcBef>
                <a:spcPts val="1400"/>
              </a:spcBef>
              <a:spcAft>
                <a:spcPts val="0"/>
              </a:spcAft>
              <a:buNone/>
            </a:pPr>
            <a:r>
              <a:rPr b="1" lang="en">
                <a:solidFill>
                  <a:srgbClr val="000000"/>
                </a:solidFill>
                <a:latin typeface="Times New Roman"/>
                <a:ea typeface="Times New Roman"/>
                <a:cs typeface="Times New Roman"/>
                <a:sym typeface="Times New Roman"/>
              </a:rPr>
              <a:t>Climate data </a:t>
            </a:r>
            <a:endParaRPr sz="13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en" sz="1300">
                <a:solidFill>
                  <a:srgbClr val="000000"/>
                </a:solidFill>
                <a:latin typeface="Times New Roman"/>
                <a:ea typeface="Times New Roman"/>
                <a:cs typeface="Times New Roman"/>
                <a:sym typeface="Times New Roman"/>
              </a:rPr>
              <a:t>Estimates of weather parameters proved to be important predictors of crop yield. The variables include temperature and humidity. </a:t>
            </a:r>
            <a:endParaRPr sz="1300">
              <a:solidFill>
                <a:srgbClr val="000000"/>
              </a:solidFill>
              <a:latin typeface="Times New Roman"/>
              <a:ea typeface="Times New Roman"/>
              <a:cs typeface="Times New Roman"/>
              <a:sym typeface="Times New Roman"/>
            </a:endParaRPr>
          </a:p>
          <a:p>
            <a:pPr indent="0" lvl="0" marL="0" rtl="0" algn="l">
              <a:lnSpc>
                <a:spcPct val="150000"/>
              </a:lnSpc>
              <a:spcBef>
                <a:spcPts val="1800"/>
              </a:spcBef>
              <a:spcAft>
                <a:spcPts val="0"/>
              </a:spcAft>
              <a:buNone/>
            </a:pPr>
            <a:r>
              <a:rPr b="1" lang="en">
                <a:solidFill>
                  <a:srgbClr val="000000"/>
                </a:solidFill>
                <a:latin typeface="Times New Roman"/>
                <a:ea typeface="Times New Roman"/>
                <a:cs typeface="Times New Roman"/>
                <a:sym typeface="Times New Roman"/>
              </a:rPr>
              <a:t>Soil properties</a:t>
            </a:r>
            <a:endParaRPr b="1">
              <a:solidFill>
                <a:srgbClr val="000000"/>
              </a:solidFill>
              <a:latin typeface="Times New Roman"/>
              <a:ea typeface="Times New Roman"/>
              <a:cs typeface="Times New Roman"/>
              <a:sym typeface="Times New Roman"/>
            </a:endParaRPr>
          </a:p>
          <a:p>
            <a:pPr indent="0" lvl="0" marL="0" rtl="0" algn="l">
              <a:lnSpc>
                <a:spcPct val="162500"/>
              </a:lnSpc>
              <a:spcBef>
                <a:spcPts val="600"/>
              </a:spcBef>
              <a:spcAft>
                <a:spcPts val="0"/>
              </a:spcAft>
              <a:buNone/>
            </a:pPr>
            <a:r>
              <a:rPr lang="en" sz="1300">
                <a:solidFill>
                  <a:srgbClr val="000000"/>
                </a:solidFill>
                <a:latin typeface="Times New Roman"/>
                <a:ea typeface="Times New Roman"/>
                <a:cs typeface="Times New Roman"/>
                <a:sym typeface="Times New Roman"/>
              </a:rPr>
              <a:t>Crop yield may be evidently affected by soil properties such as fertility level and water holding capacity. Soil pH and soil nutrients properties were selected in the analysis. </a:t>
            </a:r>
            <a:endParaRPr>
              <a:solidFill>
                <a:srgbClr val="202214"/>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sz="1100">
              <a:solidFill>
                <a:srgbClr val="000000"/>
              </a:solidFill>
              <a:highlight>
                <a:srgbClr val="FFFFFF"/>
              </a:highlight>
              <a:latin typeface="Times New Roman"/>
              <a:ea typeface="Times New Roman"/>
              <a:cs typeface="Times New Roman"/>
              <a:sym typeface="Times New Roman"/>
            </a:endParaRPr>
          </a:p>
          <a:p>
            <a:pPr indent="0" lvl="0" marL="457200" rtl="0" algn="l">
              <a:spcBef>
                <a:spcPts val="1200"/>
              </a:spcBef>
              <a:spcAft>
                <a:spcPts val="0"/>
              </a:spcAft>
              <a:buNone/>
            </a:pPr>
            <a:r>
              <a:t/>
            </a:r>
            <a:endParaRPr b="1" sz="1600">
              <a:solidFill>
                <a:srgbClr val="000000"/>
              </a:solidFill>
              <a:latin typeface="Times New Roman"/>
              <a:ea typeface="Times New Roman"/>
              <a:cs typeface="Times New Roman"/>
              <a:sym typeface="Times New Roman"/>
            </a:endParaRPr>
          </a:p>
          <a:p>
            <a:pPr indent="0" lvl="0" marL="0" rtl="0" algn="l">
              <a:spcBef>
                <a:spcPts val="1400"/>
              </a:spcBef>
              <a:spcAft>
                <a:spcPts val="400"/>
              </a:spcAft>
              <a:buNone/>
            </a:pPr>
            <a:r>
              <a:t/>
            </a:r>
            <a:endParaRPr b="1" sz="1300">
              <a:solidFill>
                <a:srgbClr val="000000"/>
              </a:solidFill>
              <a:latin typeface="Times New Roman"/>
              <a:ea typeface="Times New Roman"/>
              <a:cs typeface="Times New Roman"/>
              <a:sym typeface="Times New Roman"/>
            </a:endParaRPr>
          </a:p>
        </p:txBody>
      </p:sp>
      <p:sp>
        <p:nvSpPr>
          <p:cNvPr id="140" name="Google Shape;140;p30"/>
          <p:cNvSpPr txBox="1"/>
          <p:nvPr>
            <p:ph idx="2" type="body"/>
          </p:nvPr>
        </p:nvSpPr>
        <p:spPr>
          <a:xfrm>
            <a:off x="6178000" y="1017750"/>
            <a:ext cx="2654100" cy="3963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600">
                <a:solidFill>
                  <a:srgbClr val="000000"/>
                </a:solidFill>
                <a:latin typeface="Times New Roman"/>
                <a:ea typeface="Times New Roman"/>
                <a:cs typeface="Times New Roman"/>
                <a:sym typeface="Times New Roman"/>
              </a:rPr>
              <a:t>Research Method</a:t>
            </a:r>
            <a:endParaRPr b="1" sz="1600">
              <a:solidFill>
                <a:srgbClr val="000000"/>
              </a:solidFill>
              <a:latin typeface="Times New Roman"/>
              <a:ea typeface="Times New Roman"/>
              <a:cs typeface="Times New Roman"/>
              <a:sym typeface="Times New Roman"/>
            </a:endParaRPr>
          </a:p>
          <a:p>
            <a:pPr indent="-330200" lvl="0" marL="457200" rtl="0" algn="l">
              <a:spcBef>
                <a:spcPts val="1200"/>
              </a:spcBef>
              <a:spcAft>
                <a:spcPts val="0"/>
              </a:spcAft>
              <a:buClr>
                <a:srgbClr val="000000"/>
              </a:buClr>
              <a:buSzPts val="1600"/>
              <a:buFont typeface="Times New Roman"/>
              <a:buChar char="●"/>
            </a:pPr>
            <a:r>
              <a:rPr lang="en" sz="1600">
                <a:solidFill>
                  <a:srgbClr val="000000"/>
                </a:solidFill>
                <a:latin typeface="Times New Roman"/>
                <a:ea typeface="Times New Roman"/>
                <a:cs typeface="Times New Roman"/>
                <a:sym typeface="Times New Roman"/>
              </a:rPr>
              <a:t>Systematic literature review of work done before.</a:t>
            </a:r>
            <a:endParaRPr sz="16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b="1" sz="1600">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1"/>
          <p:cNvSpPr txBox="1"/>
          <p:nvPr>
            <p:ph type="title"/>
          </p:nvPr>
        </p:nvSpPr>
        <p:spPr>
          <a:xfrm>
            <a:off x="1051950" y="273150"/>
            <a:ext cx="6276900" cy="74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200"/>
              <a:t>     </a:t>
            </a:r>
            <a:r>
              <a:rPr b="1" lang="en" sz="4200"/>
              <a:t>Methodology   cont’d</a:t>
            </a:r>
            <a:endParaRPr b="1" sz="2000"/>
          </a:p>
          <a:p>
            <a:pPr indent="0" lvl="0" marL="0" rtl="0" algn="l">
              <a:spcBef>
                <a:spcPts val="0"/>
              </a:spcBef>
              <a:spcAft>
                <a:spcPts val="0"/>
              </a:spcAft>
              <a:buNone/>
            </a:pPr>
            <a:r>
              <a:t/>
            </a:r>
            <a:endParaRPr sz="4400"/>
          </a:p>
        </p:txBody>
      </p:sp>
      <p:sp>
        <p:nvSpPr>
          <p:cNvPr id="146" name="Google Shape;146;p31"/>
          <p:cNvSpPr txBox="1"/>
          <p:nvPr>
            <p:ph idx="1" type="body"/>
          </p:nvPr>
        </p:nvSpPr>
        <p:spPr>
          <a:xfrm>
            <a:off x="311700" y="1152475"/>
            <a:ext cx="5726700" cy="372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latin typeface="Times New Roman"/>
                <a:ea typeface="Times New Roman"/>
                <a:cs typeface="Times New Roman"/>
                <a:sym typeface="Times New Roman"/>
              </a:rPr>
              <a:t>I tested a variety of prediction approaches, including regression-based machine learning algorithms, i.e. support vector machine (SVM), regression, and random forests.</a:t>
            </a:r>
            <a:endParaRPr sz="1500">
              <a:solidFill>
                <a:srgbClr val="000000"/>
              </a:solidFill>
              <a:latin typeface="Times New Roman"/>
              <a:ea typeface="Times New Roman"/>
              <a:cs typeface="Times New Roman"/>
              <a:sym typeface="Times New Roman"/>
            </a:endParaRPr>
          </a:p>
          <a:p>
            <a:pPr indent="-323850" lvl="0" marL="457200" rtl="0" algn="l">
              <a:spcBef>
                <a:spcPts val="12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Regression-based methods can capture the spatial variation of the yield and derive the general relationship between yield and biophysical variable measurements.</a:t>
            </a:r>
            <a:endParaRPr sz="15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Random Forest – </a:t>
            </a:r>
            <a:r>
              <a:rPr lang="en" sz="1500">
                <a:solidFill>
                  <a:srgbClr val="000000"/>
                </a:solidFill>
                <a:highlight>
                  <a:srgbClr val="FFFFFF"/>
                </a:highlight>
                <a:latin typeface="Times New Roman"/>
                <a:ea typeface="Times New Roman"/>
                <a:cs typeface="Times New Roman"/>
                <a:sym typeface="Times New Roman"/>
              </a:rPr>
              <a:t>The ensemble nature of Random Forest, coupled with techniques like bagging and feature randomness, makes it robust to overfitting, especially when dealing with noisy or high-dimensional datasets.</a:t>
            </a:r>
            <a:endParaRPr>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Support Vector Machine – </a:t>
            </a:r>
            <a:r>
              <a:rPr lang="en" sz="1500">
                <a:solidFill>
                  <a:srgbClr val="000000"/>
                </a:solidFill>
                <a:highlight>
                  <a:srgbClr val="FFFFFF"/>
                </a:highlight>
                <a:latin typeface="Times New Roman"/>
                <a:ea typeface="Times New Roman"/>
                <a:cs typeface="Times New Roman"/>
                <a:sym typeface="Times New Roman"/>
              </a:rPr>
              <a:t>can be used for both linear and non-linear classification tasks, making them a flexible choice for different types of data. </a:t>
            </a:r>
            <a:endParaRPr b="1" sz="1600">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b="1" sz="1600">
              <a:solidFill>
                <a:srgbClr val="000000"/>
              </a:solidFill>
              <a:latin typeface="Times New Roman"/>
              <a:ea typeface="Times New Roman"/>
              <a:cs typeface="Times New Roman"/>
              <a:sym typeface="Times New Roman"/>
            </a:endParaRPr>
          </a:p>
          <a:p>
            <a:pPr indent="0" lvl="0" marL="0" rtl="0" algn="l">
              <a:spcBef>
                <a:spcPts val="1400"/>
              </a:spcBef>
              <a:spcAft>
                <a:spcPts val="400"/>
              </a:spcAft>
              <a:buNone/>
            </a:pPr>
            <a:r>
              <a:t/>
            </a:r>
            <a:endParaRPr b="1" sz="1300">
              <a:solidFill>
                <a:srgbClr val="000000"/>
              </a:solidFill>
              <a:latin typeface="Times New Roman"/>
              <a:ea typeface="Times New Roman"/>
              <a:cs typeface="Times New Roman"/>
              <a:sym typeface="Times New Roman"/>
            </a:endParaRPr>
          </a:p>
        </p:txBody>
      </p:sp>
      <p:sp>
        <p:nvSpPr>
          <p:cNvPr id="147" name="Google Shape;147;p31"/>
          <p:cNvSpPr txBox="1"/>
          <p:nvPr>
            <p:ph idx="2" type="body"/>
          </p:nvPr>
        </p:nvSpPr>
        <p:spPr>
          <a:xfrm>
            <a:off x="6038525" y="1017750"/>
            <a:ext cx="2793600" cy="39630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1200">
                <a:solidFill>
                  <a:srgbClr val="000000"/>
                </a:solidFill>
                <a:latin typeface="Times New Roman"/>
                <a:ea typeface="Times New Roman"/>
                <a:cs typeface="Times New Roman"/>
                <a:sym typeface="Times New Roman"/>
              </a:rPr>
              <a:t>Tools used</a:t>
            </a:r>
            <a:endParaRPr b="1" sz="1200">
              <a:solidFill>
                <a:srgbClr val="000000"/>
              </a:solidFill>
              <a:latin typeface="Times New Roman"/>
              <a:ea typeface="Times New Roman"/>
              <a:cs typeface="Times New Roman"/>
              <a:sym typeface="Times New Roman"/>
            </a:endParaRPr>
          </a:p>
          <a:p>
            <a:pPr indent="-298450" lvl="0" marL="457200" rtl="0" algn="l">
              <a:spcBef>
                <a:spcPts val="40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Python, jupyter Notebook for programming</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Scikit Learn,Random Forest, Pandas, Numpy, Matplotlib, Plotly, seaborn for data handling.</a:t>
            </a:r>
            <a:endParaRPr b="1" sz="1300">
              <a:solidFill>
                <a:srgbClr val="000000"/>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1100">
              <a:solidFill>
                <a:srgbClr val="000000"/>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b="1" sz="160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2"/>
          <p:cNvSpPr txBox="1"/>
          <p:nvPr>
            <p:ph idx="4294967295" type="title"/>
          </p:nvPr>
        </p:nvSpPr>
        <p:spPr>
          <a:xfrm>
            <a:off x="241950" y="131200"/>
            <a:ext cx="2395500" cy="52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200"/>
              <a:t>Results</a:t>
            </a:r>
            <a:endParaRPr sz="3600"/>
          </a:p>
        </p:txBody>
      </p:sp>
      <p:sp>
        <p:nvSpPr>
          <p:cNvPr id="153" name="Google Shape;153;p32"/>
          <p:cNvSpPr txBox="1"/>
          <p:nvPr>
            <p:ph idx="4294967295" type="body"/>
          </p:nvPr>
        </p:nvSpPr>
        <p:spPr>
          <a:xfrm>
            <a:off x="110425" y="970575"/>
            <a:ext cx="4125600" cy="40101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b="1" lang="en" sz="1200" u="sng">
                <a:solidFill>
                  <a:srgbClr val="000000"/>
                </a:solidFill>
                <a:highlight>
                  <a:srgbClr val="FFFFFF"/>
                </a:highlight>
                <a:latin typeface="Times New Roman"/>
                <a:ea typeface="Times New Roman"/>
                <a:cs typeface="Times New Roman"/>
                <a:sym typeface="Times New Roman"/>
              </a:rPr>
              <a:t>EXPLORATORY DATA ANALYSIS</a:t>
            </a:r>
            <a:endParaRPr b="1" sz="1200" u="sng">
              <a:solidFill>
                <a:srgbClr val="000000"/>
              </a:solidFill>
              <a:highlight>
                <a:srgbClr val="FFFFFF"/>
              </a:highlight>
              <a:latin typeface="Times New Roman"/>
              <a:ea typeface="Times New Roman"/>
              <a:cs typeface="Times New Roman"/>
              <a:sym typeface="Times New Roman"/>
            </a:endParaRPr>
          </a:p>
          <a:p>
            <a:pPr indent="0" lvl="0" marL="0" rtl="0" algn="l">
              <a:lnSpc>
                <a:spcPct val="140000"/>
              </a:lnSpc>
              <a:spcBef>
                <a:spcPts val="600"/>
              </a:spcBef>
              <a:spcAft>
                <a:spcPts val="0"/>
              </a:spcAft>
              <a:buNone/>
            </a:pPr>
            <a:r>
              <a:rPr lang="en" sz="1200">
                <a:solidFill>
                  <a:srgbClr val="000000"/>
                </a:solidFill>
                <a:highlight>
                  <a:srgbClr val="FFFFFF"/>
                </a:highlight>
                <a:latin typeface="Times New Roman"/>
                <a:ea typeface="Times New Roman"/>
                <a:cs typeface="Times New Roman"/>
                <a:sym typeface="Times New Roman"/>
              </a:rPr>
              <a:t>For:</a:t>
            </a:r>
            <a:endParaRPr sz="1200">
              <a:solidFill>
                <a:srgbClr val="000000"/>
              </a:solidFill>
              <a:highlight>
                <a:srgbClr val="FFFFFF"/>
              </a:highlight>
              <a:latin typeface="Times New Roman"/>
              <a:ea typeface="Times New Roman"/>
              <a:cs typeface="Times New Roman"/>
              <a:sym typeface="Times New Roman"/>
            </a:endParaRPr>
          </a:p>
          <a:p>
            <a:pPr indent="-304800" lvl="0" marL="457200" rtl="0" algn="l">
              <a:lnSpc>
                <a:spcPct val="140000"/>
              </a:lnSpc>
              <a:spcBef>
                <a:spcPts val="600"/>
              </a:spcBef>
              <a:spcAft>
                <a:spcPts val="0"/>
              </a:spcAft>
              <a:buClr>
                <a:srgbClr val="000000"/>
              </a:buClr>
              <a:buSzPts val="1200"/>
              <a:buFont typeface="Times New Roman"/>
              <a:buChar char="●"/>
            </a:pPr>
            <a:r>
              <a:rPr lang="en" sz="1200">
                <a:solidFill>
                  <a:srgbClr val="000000"/>
                </a:solidFill>
                <a:highlight>
                  <a:srgbClr val="FFFFFF"/>
                </a:highlight>
                <a:latin typeface="Times New Roman"/>
                <a:ea typeface="Times New Roman"/>
                <a:cs typeface="Times New Roman"/>
                <a:sym typeface="Times New Roman"/>
              </a:rPr>
              <a:t>The soil nutrient properties of Nitrogen, Phosphorus and Potassium.</a:t>
            </a:r>
            <a:endParaRPr sz="1200">
              <a:solidFill>
                <a:srgbClr val="000000"/>
              </a:solidFill>
              <a:highlight>
                <a:srgbClr val="FFFFFF"/>
              </a:highlight>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The soil pH</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Climate data of temperature, rainfall and humidity.</a:t>
            </a:r>
            <a:endParaRPr sz="11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b="1" lang="en" sz="1100">
                <a:solidFill>
                  <a:srgbClr val="000000"/>
                </a:solidFill>
                <a:latin typeface="Times New Roman"/>
                <a:ea typeface="Times New Roman"/>
                <a:cs typeface="Times New Roman"/>
                <a:sym typeface="Times New Roman"/>
              </a:rPr>
              <a:t>IMPORTANCE OF SOIL NUTRIENTS</a:t>
            </a:r>
            <a:endParaRPr b="1" sz="11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b="1" sz="1100">
              <a:solidFill>
                <a:srgbClr val="000000"/>
              </a:solidFill>
              <a:latin typeface="Times New Roman"/>
              <a:ea typeface="Times New Roman"/>
              <a:cs typeface="Times New Roman"/>
              <a:sym typeface="Times New Roman"/>
            </a:endParaRPr>
          </a:p>
          <a:p>
            <a:pPr indent="-298450" lvl="0" marL="457200" rtl="0" algn="l">
              <a:lnSpc>
                <a:spcPct val="140000"/>
              </a:lnSpc>
              <a:spcBef>
                <a:spcPts val="0"/>
              </a:spcBef>
              <a:spcAft>
                <a:spcPts val="0"/>
              </a:spcAft>
              <a:buClr>
                <a:srgbClr val="000000"/>
              </a:buClr>
              <a:buSzPts val="1100"/>
              <a:buFont typeface="Times New Roman"/>
              <a:buChar char="●"/>
            </a:pPr>
            <a:r>
              <a:rPr lang="en" sz="1200">
                <a:solidFill>
                  <a:srgbClr val="000000"/>
                </a:solidFill>
                <a:highlight>
                  <a:srgbClr val="FFFFFF"/>
                </a:highlight>
                <a:latin typeface="Times New Roman"/>
                <a:ea typeface="Times New Roman"/>
                <a:cs typeface="Times New Roman"/>
                <a:sym typeface="Times New Roman"/>
              </a:rPr>
              <a:t>Nitrogen is an essential nutrient for plant growth, development and reproduction.</a:t>
            </a:r>
            <a:endParaRPr sz="1200">
              <a:solidFill>
                <a:srgbClr val="000000"/>
              </a:solidFill>
              <a:highlight>
                <a:srgbClr val="FFFFFF"/>
              </a:highlight>
              <a:latin typeface="Times New Roman"/>
              <a:ea typeface="Times New Roman"/>
              <a:cs typeface="Times New Roman"/>
              <a:sym typeface="Times New Roman"/>
            </a:endParaRPr>
          </a:p>
          <a:p>
            <a:pPr indent="-304800" lvl="0" marL="457200" rtl="0" algn="l">
              <a:lnSpc>
                <a:spcPct val="140000"/>
              </a:lnSpc>
              <a:spcBef>
                <a:spcPts val="0"/>
              </a:spcBef>
              <a:spcAft>
                <a:spcPts val="0"/>
              </a:spcAft>
              <a:buClr>
                <a:srgbClr val="202214"/>
              </a:buClr>
              <a:buSzPts val="1200"/>
              <a:buFont typeface="Times New Roman"/>
              <a:buChar char="●"/>
            </a:pPr>
            <a:r>
              <a:rPr lang="en" sz="1200">
                <a:solidFill>
                  <a:srgbClr val="202214"/>
                </a:solidFill>
                <a:latin typeface="Times New Roman"/>
                <a:ea typeface="Times New Roman"/>
                <a:cs typeface="Times New Roman"/>
                <a:sym typeface="Times New Roman"/>
              </a:rPr>
              <a:t>The rate of respiration by plants is largely the determining factor for proper uptake and transport of potassium by plants.</a:t>
            </a:r>
            <a:endParaRPr sz="1200">
              <a:solidFill>
                <a:srgbClr val="202214"/>
              </a:solidFill>
              <a:latin typeface="Times New Roman"/>
              <a:ea typeface="Times New Roman"/>
              <a:cs typeface="Times New Roman"/>
              <a:sym typeface="Times New Roman"/>
            </a:endParaRPr>
          </a:p>
          <a:p>
            <a:pPr indent="-304800" lvl="0" marL="457200" rtl="0" algn="l">
              <a:lnSpc>
                <a:spcPct val="140000"/>
              </a:lnSpc>
              <a:spcBef>
                <a:spcPts val="0"/>
              </a:spcBef>
              <a:spcAft>
                <a:spcPts val="0"/>
              </a:spcAft>
              <a:buClr>
                <a:srgbClr val="202214"/>
              </a:buClr>
              <a:buSzPts val="1200"/>
              <a:buFont typeface="Times New Roman"/>
              <a:buChar char="●"/>
            </a:pPr>
            <a:r>
              <a:rPr lang="en" sz="1200">
                <a:solidFill>
                  <a:srgbClr val="202214"/>
                </a:solidFill>
                <a:highlight>
                  <a:srgbClr val="FFFFFF"/>
                </a:highlight>
                <a:latin typeface="Times New Roman"/>
                <a:ea typeface="Times New Roman"/>
                <a:cs typeface="Times New Roman"/>
                <a:sym typeface="Times New Roman"/>
              </a:rPr>
              <a:t>Phosphorus is important for cell division and development of new tissues.</a:t>
            </a:r>
            <a:endParaRPr sz="1200">
              <a:solidFill>
                <a:srgbClr val="202214"/>
              </a:solidFill>
              <a:highlight>
                <a:srgbClr val="FFFFFF"/>
              </a:highlight>
              <a:latin typeface="Times New Roman"/>
              <a:ea typeface="Times New Roman"/>
              <a:cs typeface="Times New Roman"/>
              <a:sym typeface="Times New Roman"/>
            </a:endParaRPr>
          </a:p>
          <a:p>
            <a:pPr indent="0" lvl="0" marL="457200" rtl="0" algn="l">
              <a:lnSpc>
                <a:spcPct val="140000"/>
              </a:lnSpc>
              <a:spcBef>
                <a:spcPts val="600"/>
              </a:spcBef>
              <a:spcAft>
                <a:spcPts val="600"/>
              </a:spcAft>
              <a:buNone/>
            </a:pPr>
            <a:r>
              <a:t/>
            </a:r>
            <a:endParaRPr sz="1200">
              <a:solidFill>
                <a:srgbClr val="000000"/>
              </a:solidFill>
              <a:highlight>
                <a:srgbClr val="FFFFFF"/>
              </a:highlight>
              <a:latin typeface="Times New Roman"/>
              <a:ea typeface="Times New Roman"/>
              <a:cs typeface="Times New Roman"/>
              <a:sym typeface="Times New Roman"/>
            </a:endParaRPr>
          </a:p>
        </p:txBody>
      </p:sp>
      <p:pic>
        <p:nvPicPr>
          <p:cNvPr id="154" name="Google Shape;154;p32"/>
          <p:cNvPicPr preferRelativeResize="0"/>
          <p:nvPr/>
        </p:nvPicPr>
        <p:blipFill>
          <a:blip r:embed="rId3">
            <a:alphaModFix/>
          </a:blip>
          <a:stretch>
            <a:fillRect/>
          </a:stretch>
        </p:blipFill>
        <p:spPr>
          <a:xfrm>
            <a:off x="6697894" y="235625"/>
            <a:ext cx="2249006" cy="2092825"/>
          </a:xfrm>
          <a:prstGeom prst="rect">
            <a:avLst/>
          </a:prstGeom>
          <a:noFill/>
          <a:ln>
            <a:noFill/>
          </a:ln>
        </p:spPr>
      </p:pic>
      <p:pic>
        <p:nvPicPr>
          <p:cNvPr id="155" name="Google Shape;155;p32"/>
          <p:cNvPicPr preferRelativeResize="0"/>
          <p:nvPr/>
        </p:nvPicPr>
        <p:blipFill>
          <a:blip r:embed="rId4">
            <a:alphaModFix/>
          </a:blip>
          <a:stretch>
            <a:fillRect/>
          </a:stretch>
        </p:blipFill>
        <p:spPr>
          <a:xfrm>
            <a:off x="4235871" y="235625"/>
            <a:ext cx="2395454" cy="2182100"/>
          </a:xfrm>
          <a:prstGeom prst="rect">
            <a:avLst/>
          </a:prstGeom>
          <a:noFill/>
          <a:ln>
            <a:noFill/>
          </a:ln>
        </p:spPr>
      </p:pic>
      <p:pic>
        <p:nvPicPr>
          <p:cNvPr id="156" name="Google Shape;156;p32"/>
          <p:cNvPicPr preferRelativeResize="0"/>
          <p:nvPr/>
        </p:nvPicPr>
        <p:blipFill>
          <a:blip r:embed="rId5">
            <a:alphaModFix/>
          </a:blip>
          <a:stretch>
            <a:fillRect/>
          </a:stretch>
        </p:blipFill>
        <p:spPr>
          <a:xfrm>
            <a:off x="4380200" y="2417725"/>
            <a:ext cx="2781375" cy="267775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3"/>
          <p:cNvSpPr txBox="1"/>
          <p:nvPr>
            <p:ph idx="4294967295" type="title"/>
          </p:nvPr>
        </p:nvSpPr>
        <p:spPr>
          <a:xfrm>
            <a:off x="276900" y="485775"/>
            <a:ext cx="4105200" cy="52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500"/>
              <a:t>Exploratory Data Analysis</a:t>
            </a:r>
            <a:endParaRPr sz="1900"/>
          </a:p>
        </p:txBody>
      </p:sp>
      <p:sp>
        <p:nvSpPr>
          <p:cNvPr id="162" name="Google Shape;162;p33"/>
          <p:cNvSpPr txBox="1"/>
          <p:nvPr>
            <p:ph idx="4294967295" type="body"/>
          </p:nvPr>
        </p:nvSpPr>
        <p:spPr>
          <a:xfrm>
            <a:off x="207000" y="761350"/>
            <a:ext cx="4175100" cy="30687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t/>
            </a:r>
            <a:endParaRPr b="1" sz="1200" u="sng">
              <a:solidFill>
                <a:srgbClr val="000000"/>
              </a:solidFill>
              <a:highlight>
                <a:srgbClr val="FFFFFF"/>
              </a:highlight>
              <a:latin typeface="Times New Roman"/>
              <a:ea typeface="Times New Roman"/>
              <a:cs typeface="Times New Roman"/>
              <a:sym typeface="Times New Roman"/>
            </a:endParaRPr>
          </a:p>
          <a:p>
            <a:pPr indent="0" lvl="0" marL="0" rtl="0" algn="l">
              <a:lnSpc>
                <a:spcPct val="140000"/>
              </a:lnSpc>
              <a:spcBef>
                <a:spcPts val="600"/>
              </a:spcBef>
              <a:spcAft>
                <a:spcPts val="0"/>
              </a:spcAft>
              <a:buNone/>
            </a:pPr>
            <a:r>
              <a:rPr lang="en" sz="1200">
                <a:solidFill>
                  <a:srgbClr val="000000"/>
                </a:solidFill>
                <a:highlight>
                  <a:srgbClr val="FFFFFF"/>
                </a:highlight>
                <a:latin typeface="Times New Roman"/>
                <a:ea typeface="Times New Roman"/>
                <a:cs typeface="Times New Roman"/>
                <a:sym typeface="Times New Roman"/>
              </a:rPr>
              <a:t>For:</a:t>
            </a:r>
            <a:endParaRPr sz="1200">
              <a:solidFill>
                <a:srgbClr val="000000"/>
              </a:solidFill>
              <a:highlight>
                <a:srgbClr val="FFFFFF"/>
              </a:highlight>
              <a:latin typeface="Times New Roman"/>
              <a:ea typeface="Times New Roman"/>
              <a:cs typeface="Times New Roman"/>
              <a:sym typeface="Times New Roman"/>
            </a:endParaRPr>
          </a:p>
          <a:p>
            <a:pPr indent="-298450" lvl="0" marL="457200" rtl="0" algn="l">
              <a:spcBef>
                <a:spcPts val="60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The soil pH</a:t>
            </a:r>
            <a:endParaRPr sz="11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100">
              <a:solidFill>
                <a:srgbClr val="000000"/>
              </a:solidFill>
              <a:latin typeface="Times New Roman"/>
              <a:ea typeface="Times New Roman"/>
              <a:cs typeface="Times New Roman"/>
              <a:sym typeface="Times New Roman"/>
            </a:endParaRPr>
          </a:p>
          <a:p>
            <a:pPr indent="0" lvl="0" marL="0" rtl="0" algn="l">
              <a:lnSpc>
                <a:spcPct val="140000"/>
              </a:lnSpc>
              <a:spcBef>
                <a:spcPts val="0"/>
              </a:spcBef>
              <a:spcAft>
                <a:spcPts val="0"/>
              </a:spcAft>
              <a:buNone/>
            </a:pPr>
            <a:r>
              <a:rPr lang="en" sz="1100">
                <a:solidFill>
                  <a:srgbClr val="202214"/>
                </a:solidFill>
                <a:highlight>
                  <a:srgbClr val="FFFFFF"/>
                </a:highlight>
                <a:latin typeface="Times New Roman"/>
                <a:ea typeface="Times New Roman"/>
                <a:cs typeface="Times New Roman"/>
                <a:sym typeface="Times New Roman"/>
              </a:rPr>
              <a:t>pH stands for ‘potential of hydrogen’ and refers to the amount of hydrogen found in the soil.</a:t>
            </a:r>
            <a:endParaRPr sz="1100">
              <a:solidFill>
                <a:srgbClr val="202214"/>
              </a:solidFill>
              <a:highlight>
                <a:srgbClr val="FFFFFF"/>
              </a:highlight>
              <a:latin typeface="Times New Roman"/>
              <a:ea typeface="Times New Roman"/>
              <a:cs typeface="Times New Roman"/>
              <a:sym typeface="Times New Roman"/>
            </a:endParaRPr>
          </a:p>
          <a:p>
            <a:pPr indent="0" lvl="0" marL="0" rtl="0" algn="l">
              <a:lnSpc>
                <a:spcPct val="140000"/>
              </a:lnSpc>
              <a:spcBef>
                <a:spcPts val="600"/>
              </a:spcBef>
              <a:spcAft>
                <a:spcPts val="0"/>
              </a:spcAft>
              <a:buNone/>
            </a:pPr>
            <a:r>
              <a:rPr lang="en" sz="1100">
                <a:solidFill>
                  <a:srgbClr val="202214"/>
                </a:solidFill>
                <a:highlight>
                  <a:srgbClr val="FFFFFF"/>
                </a:highlight>
                <a:latin typeface="Times New Roman"/>
                <a:ea typeface="Times New Roman"/>
                <a:cs typeface="Times New Roman"/>
                <a:sym typeface="Times New Roman"/>
              </a:rPr>
              <a:t>pH can affect a plant’s ability to absorb vital nutrients from the soil. If pH is too acidic or alkaline, this can stunt or retard root growth and consequently, restrict water and nutrient uptake.</a:t>
            </a:r>
            <a:endParaRPr sz="1100">
              <a:solidFill>
                <a:srgbClr val="202214"/>
              </a:solidFill>
              <a:highlight>
                <a:srgbClr val="FFFFFF"/>
              </a:highlight>
              <a:latin typeface="Times New Roman"/>
              <a:ea typeface="Times New Roman"/>
              <a:cs typeface="Times New Roman"/>
              <a:sym typeface="Times New Roman"/>
            </a:endParaRPr>
          </a:p>
          <a:p>
            <a:pPr indent="0" lvl="0" marL="0" rtl="0" algn="l">
              <a:lnSpc>
                <a:spcPct val="140000"/>
              </a:lnSpc>
              <a:spcBef>
                <a:spcPts val="600"/>
              </a:spcBef>
              <a:spcAft>
                <a:spcPts val="0"/>
              </a:spcAft>
              <a:buNone/>
            </a:pPr>
            <a:r>
              <a:t/>
            </a:r>
            <a:endParaRPr sz="1100">
              <a:solidFill>
                <a:srgbClr val="202214"/>
              </a:solidFill>
              <a:highlight>
                <a:srgbClr val="FFFFFF"/>
              </a:highlight>
              <a:latin typeface="Times New Roman"/>
              <a:ea typeface="Times New Roman"/>
              <a:cs typeface="Times New Roman"/>
              <a:sym typeface="Times New Roman"/>
            </a:endParaRPr>
          </a:p>
          <a:p>
            <a:pPr indent="-298450" lvl="0" marL="457200" rtl="0" algn="l">
              <a:spcBef>
                <a:spcPts val="60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The rainfall</a:t>
            </a:r>
            <a:endParaRPr sz="1100">
              <a:solidFill>
                <a:srgbClr val="202214"/>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rgbClr val="000000"/>
              </a:solidFill>
              <a:latin typeface="Times New Roman"/>
              <a:ea typeface="Times New Roman"/>
              <a:cs typeface="Times New Roman"/>
              <a:sym typeface="Times New Roman"/>
            </a:endParaRPr>
          </a:p>
          <a:p>
            <a:pPr indent="0" lvl="0" marL="457200" rtl="0" algn="l">
              <a:lnSpc>
                <a:spcPct val="140000"/>
              </a:lnSpc>
              <a:spcBef>
                <a:spcPts val="0"/>
              </a:spcBef>
              <a:spcAft>
                <a:spcPts val="600"/>
              </a:spcAft>
              <a:buNone/>
            </a:pPr>
            <a:r>
              <a:t/>
            </a:r>
            <a:endParaRPr sz="1200">
              <a:solidFill>
                <a:srgbClr val="000000"/>
              </a:solidFill>
              <a:highlight>
                <a:srgbClr val="FFFFFF"/>
              </a:highlight>
              <a:latin typeface="Times New Roman"/>
              <a:ea typeface="Times New Roman"/>
              <a:cs typeface="Times New Roman"/>
              <a:sym typeface="Times New Roman"/>
            </a:endParaRPr>
          </a:p>
        </p:txBody>
      </p:sp>
      <p:pic>
        <p:nvPicPr>
          <p:cNvPr id="163" name="Google Shape;163;p33"/>
          <p:cNvPicPr preferRelativeResize="0"/>
          <p:nvPr/>
        </p:nvPicPr>
        <p:blipFill>
          <a:blip r:embed="rId3">
            <a:alphaModFix/>
          </a:blip>
          <a:stretch>
            <a:fillRect/>
          </a:stretch>
        </p:blipFill>
        <p:spPr>
          <a:xfrm>
            <a:off x="4781625" y="485775"/>
            <a:ext cx="2669175" cy="2085975"/>
          </a:xfrm>
          <a:prstGeom prst="rect">
            <a:avLst/>
          </a:prstGeom>
          <a:noFill/>
          <a:ln>
            <a:noFill/>
          </a:ln>
        </p:spPr>
      </p:pic>
      <p:pic>
        <p:nvPicPr>
          <p:cNvPr id="164" name="Google Shape;164;p33"/>
          <p:cNvPicPr preferRelativeResize="0"/>
          <p:nvPr/>
        </p:nvPicPr>
        <p:blipFill>
          <a:blip r:embed="rId4">
            <a:alphaModFix/>
          </a:blip>
          <a:stretch>
            <a:fillRect/>
          </a:stretch>
        </p:blipFill>
        <p:spPr>
          <a:xfrm>
            <a:off x="4748300" y="2571750"/>
            <a:ext cx="2669175" cy="2219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4"/>
          <p:cNvSpPr txBox="1"/>
          <p:nvPr>
            <p:ph idx="4294967295" type="title"/>
          </p:nvPr>
        </p:nvSpPr>
        <p:spPr>
          <a:xfrm>
            <a:off x="241950" y="497350"/>
            <a:ext cx="3957300" cy="52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500"/>
              <a:t>Exploratory Data Analysis</a:t>
            </a:r>
            <a:endParaRPr sz="1900"/>
          </a:p>
        </p:txBody>
      </p:sp>
      <p:sp>
        <p:nvSpPr>
          <p:cNvPr id="170" name="Google Shape;170;p34"/>
          <p:cNvSpPr txBox="1"/>
          <p:nvPr>
            <p:ph idx="4294967295" type="body"/>
          </p:nvPr>
        </p:nvSpPr>
        <p:spPr>
          <a:xfrm>
            <a:off x="73650" y="656800"/>
            <a:ext cx="4125600" cy="40101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t/>
            </a:r>
            <a:endParaRPr b="1" sz="1200" u="sng">
              <a:solidFill>
                <a:srgbClr val="000000"/>
              </a:solidFill>
              <a:highlight>
                <a:srgbClr val="FFFFFF"/>
              </a:highlight>
              <a:latin typeface="Times New Roman"/>
              <a:ea typeface="Times New Roman"/>
              <a:cs typeface="Times New Roman"/>
              <a:sym typeface="Times New Roman"/>
            </a:endParaRPr>
          </a:p>
          <a:p>
            <a:pPr indent="0" lvl="0" marL="0" rtl="0" algn="l">
              <a:lnSpc>
                <a:spcPct val="140000"/>
              </a:lnSpc>
              <a:spcBef>
                <a:spcPts val="600"/>
              </a:spcBef>
              <a:spcAft>
                <a:spcPts val="0"/>
              </a:spcAft>
              <a:buNone/>
            </a:pPr>
            <a:r>
              <a:rPr lang="en" sz="1200">
                <a:solidFill>
                  <a:srgbClr val="000000"/>
                </a:solidFill>
                <a:highlight>
                  <a:srgbClr val="FFFFFF"/>
                </a:highlight>
                <a:latin typeface="Times New Roman"/>
                <a:ea typeface="Times New Roman"/>
                <a:cs typeface="Times New Roman"/>
                <a:sym typeface="Times New Roman"/>
              </a:rPr>
              <a:t>For:</a:t>
            </a:r>
            <a:endParaRPr sz="1100">
              <a:solidFill>
                <a:srgbClr val="000000"/>
              </a:solidFill>
              <a:latin typeface="Times New Roman"/>
              <a:ea typeface="Times New Roman"/>
              <a:cs typeface="Times New Roman"/>
              <a:sym typeface="Times New Roman"/>
            </a:endParaRPr>
          </a:p>
          <a:p>
            <a:pPr indent="-298450" lvl="0" marL="457200" rtl="0" algn="l">
              <a:spcBef>
                <a:spcPts val="600"/>
              </a:spcBef>
              <a:spcAft>
                <a:spcPts val="0"/>
              </a:spcAft>
              <a:buClr>
                <a:srgbClr val="000000"/>
              </a:buClr>
              <a:buSzPts val="1100"/>
              <a:buFont typeface="Times New Roman"/>
              <a:buChar char="●"/>
            </a:pPr>
            <a:r>
              <a:rPr lang="en" sz="1100">
                <a:solidFill>
                  <a:srgbClr val="000000"/>
                </a:solidFill>
                <a:latin typeface="Times New Roman"/>
                <a:ea typeface="Times New Roman"/>
                <a:cs typeface="Times New Roman"/>
                <a:sym typeface="Times New Roman"/>
              </a:rPr>
              <a:t>Climate data of temperature and  humidity.</a:t>
            </a:r>
            <a:endParaRPr sz="1100">
              <a:solidFill>
                <a:srgbClr val="000000"/>
              </a:solidFill>
              <a:latin typeface="Times New Roman"/>
              <a:ea typeface="Times New Roman"/>
              <a:cs typeface="Times New Roman"/>
              <a:sym typeface="Times New Roman"/>
            </a:endParaRPr>
          </a:p>
          <a:p>
            <a:pPr indent="0" lvl="0" marL="457200" rtl="0" algn="l">
              <a:lnSpc>
                <a:spcPct val="140000"/>
              </a:lnSpc>
              <a:spcBef>
                <a:spcPts val="0"/>
              </a:spcBef>
              <a:spcAft>
                <a:spcPts val="600"/>
              </a:spcAft>
              <a:buNone/>
            </a:pPr>
            <a:r>
              <a:t/>
            </a:r>
            <a:endParaRPr sz="1200">
              <a:solidFill>
                <a:srgbClr val="000000"/>
              </a:solidFill>
              <a:highlight>
                <a:srgbClr val="FFFFFF"/>
              </a:highlight>
              <a:latin typeface="Times New Roman"/>
              <a:ea typeface="Times New Roman"/>
              <a:cs typeface="Times New Roman"/>
              <a:sym typeface="Times New Roman"/>
            </a:endParaRPr>
          </a:p>
        </p:txBody>
      </p:sp>
      <p:pic>
        <p:nvPicPr>
          <p:cNvPr id="171" name="Google Shape;171;p34"/>
          <p:cNvPicPr preferRelativeResize="0"/>
          <p:nvPr/>
        </p:nvPicPr>
        <p:blipFill>
          <a:blip r:embed="rId3">
            <a:alphaModFix/>
          </a:blip>
          <a:stretch>
            <a:fillRect/>
          </a:stretch>
        </p:blipFill>
        <p:spPr>
          <a:xfrm>
            <a:off x="4199200" y="1878325"/>
            <a:ext cx="3125343" cy="2312325"/>
          </a:xfrm>
          <a:prstGeom prst="rect">
            <a:avLst/>
          </a:prstGeom>
          <a:noFill/>
          <a:ln>
            <a:noFill/>
          </a:ln>
        </p:spPr>
      </p:pic>
      <p:pic>
        <p:nvPicPr>
          <p:cNvPr id="172" name="Google Shape;172;p34"/>
          <p:cNvPicPr preferRelativeResize="0"/>
          <p:nvPr/>
        </p:nvPicPr>
        <p:blipFill>
          <a:blip r:embed="rId4">
            <a:alphaModFix/>
          </a:blip>
          <a:stretch>
            <a:fillRect/>
          </a:stretch>
        </p:blipFill>
        <p:spPr>
          <a:xfrm>
            <a:off x="460075" y="1964400"/>
            <a:ext cx="3297575" cy="2312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5"/>
          <p:cNvSpPr txBox="1"/>
          <p:nvPr>
            <p:ph idx="4294967295" type="title"/>
          </p:nvPr>
        </p:nvSpPr>
        <p:spPr>
          <a:xfrm>
            <a:off x="392000" y="218400"/>
            <a:ext cx="5064300" cy="525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500"/>
              <a:t>Training the</a:t>
            </a:r>
            <a:r>
              <a:rPr b="1" lang="en" sz="2500"/>
              <a:t> Data for modelling</a:t>
            </a:r>
            <a:endParaRPr sz="1900"/>
          </a:p>
        </p:txBody>
      </p:sp>
      <p:sp>
        <p:nvSpPr>
          <p:cNvPr id="178" name="Google Shape;178;p35"/>
          <p:cNvSpPr txBox="1"/>
          <p:nvPr>
            <p:ph idx="4294967295" type="body"/>
          </p:nvPr>
        </p:nvSpPr>
        <p:spPr>
          <a:xfrm>
            <a:off x="73650" y="1022950"/>
            <a:ext cx="4125600" cy="3644100"/>
          </a:xfrm>
          <a:prstGeom prst="rect">
            <a:avLst/>
          </a:prstGeom>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t/>
            </a:r>
            <a:endParaRPr b="1" sz="1200" u="sng">
              <a:solidFill>
                <a:srgbClr val="000000"/>
              </a:solidFill>
              <a:highlight>
                <a:srgbClr val="FFFFFF"/>
              </a:highlight>
              <a:latin typeface="Times New Roman"/>
              <a:ea typeface="Times New Roman"/>
              <a:cs typeface="Times New Roman"/>
              <a:sym typeface="Times New Roman"/>
            </a:endParaRPr>
          </a:p>
          <a:p>
            <a:pPr indent="0" lvl="0" marL="457200" rtl="0" algn="l">
              <a:spcBef>
                <a:spcPts val="600"/>
              </a:spcBef>
              <a:spcAft>
                <a:spcPts val="0"/>
              </a:spcAft>
              <a:buNone/>
            </a:pPr>
            <a:r>
              <a:t/>
            </a:r>
            <a:endParaRPr sz="1100">
              <a:solidFill>
                <a:srgbClr val="000000"/>
              </a:solidFill>
              <a:latin typeface="Times New Roman"/>
              <a:ea typeface="Times New Roman"/>
              <a:cs typeface="Times New Roman"/>
              <a:sym typeface="Times New Roman"/>
            </a:endParaRPr>
          </a:p>
          <a:p>
            <a:pPr indent="0" lvl="0" marL="457200" rtl="0" algn="l">
              <a:lnSpc>
                <a:spcPct val="140000"/>
              </a:lnSpc>
              <a:spcBef>
                <a:spcPts val="0"/>
              </a:spcBef>
              <a:spcAft>
                <a:spcPts val="600"/>
              </a:spcAft>
              <a:buNone/>
            </a:pPr>
            <a:r>
              <a:t/>
            </a:r>
            <a:endParaRPr sz="1200">
              <a:solidFill>
                <a:srgbClr val="000000"/>
              </a:solidFill>
              <a:highlight>
                <a:srgbClr val="FFFFFF"/>
              </a:highlight>
              <a:latin typeface="Times New Roman"/>
              <a:ea typeface="Times New Roman"/>
              <a:cs typeface="Times New Roman"/>
              <a:sym typeface="Times New Roman"/>
            </a:endParaRPr>
          </a:p>
        </p:txBody>
      </p:sp>
      <p:pic>
        <p:nvPicPr>
          <p:cNvPr id="179" name="Google Shape;179;p35"/>
          <p:cNvPicPr preferRelativeResize="0"/>
          <p:nvPr/>
        </p:nvPicPr>
        <p:blipFill>
          <a:blip r:embed="rId3">
            <a:alphaModFix/>
          </a:blip>
          <a:stretch>
            <a:fillRect/>
          </a:stretch>
        </p:blipFill>
        <p:spPr>
          <a:xfrm>
            <a:off x="241950" y="1259212"/>
            <a:ext cx="3564825" cy="2339088"/>
          </a:xfrm>
          <a:prstGeom prst="rect">
            <a:avLst/>
          </a:prstGeom>
          <a:noFill/>
          <a:ln>
            <a:noFill/>
          </a:ln>
        </p:spPr>
      </p:pic>
      <p:pic>
        <p:nvPicPr>
          <p:cNvPr id="180" name="Google Shape;180;p35"/>
          <p:cNvPicPr preferRelativeResize="0"/>
          <p:nvPr/>
        </p:nvPicPr>
        <p:blipFill>
          <a:blip r:embed="rId4">
            <a:alphaModFix/>
          </a:blip>
          <a:stretch>
            <a:fillRect/>
          </a:stretch>
        </p:blipFill>
        <p:spPr>
          <a:xfrm>
            <a:off x="3935800" y="1471662"/>
            <a:ext cx="3149525" cy="1858663"/>
          </a:xfrm>
          <a:prstGeom prst="rect">
            <a:avLst/>
          </a:prstGeom>
          <a:noFill/>
          <a:ln>
            <a:noFill/>
          </a:ln>
        </p:spPr>
      </p:pic>
      <p:sp>
        <p:nvSpPr>
          <p:cNvPr id="181" name="Google Shape;181;p35"/>
          <p:cNvSpPr txBox="1"/>
          <p:nvPr/>
        </p:nvSpPr>
        <p:spPr>
          <a:xfrm>
            <a:off x="392000" y="3826800"/>
            <a:ext cx="50643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latin typeface="Times New Roman"/>
                <a:ea typeface="Times New Roman"/>
                <a:cs typeface="Times New Roman"/>
                <a:sym typeface="Times New Roman"/>
              </a:rPr>
              <a:t>Best Model</a:t>
            </a:r>
            <a:r>
              <a:rPr lang="en" sz="1100">
                <a:latin typeface="Times New Roman"/>
                <a:ea typeface="Times New Roman"/>
                <a:cs typeface="Times New Roman"/>
                <a:sym typeface="Times New Roman"/>
              </a:rPr>
              <a:t>: Random Forest with </a:t>
            </a:r>
            <a:r>
              <a:rPr lang="en" sz="1000">
                <a:highlight>
                  <a:srgbClr val="FFFFFF"/>
                </a:highlight>
                <a:latin typeface="Courier New"/>
                <a:ea typeface="Courier New"/>
                <a:cs typeface="Courier New"/>
                <a:sym typeface="Courier New"/>
              </a:rPr>
              <a:t>99.54545454545455</a:t>
            </a:r>
            <a:r>
              <a:rPr lang="en" sz="1100">
                <a:latin typeface="Times New Roman"/>
                <a:ea typeface="Times New Roman"/>
                <a:cs typeface="Times New Roman"/>
                <a:sym typeface="Times New Roman"/>
              </a:rPr>
              <a:t>% accuracy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6"/>
          <p:cNvSpPr txBox="1"/>
          <p:nvPr>
            <p:ph type="title"/>
          </p:nvPr>
        </p:nvSpPr>
        <p:spPr>
          <a:xfrm>
            <a:off x="281025" y="377775"/>
            <a:ext cx="5797500" cy="854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000">
                <a:latin typeface="Times New Roman"/>
                <a:ea typeface="Times New Roman"/>
                <a:cs typeface="Times New Roman"/>
                <a:sym typeface="Times New Roman"/>
              </a:rPr>
              <a:t>Challenges</a:t>
            </a:r>
            <a:endParaRPr b="1" sz="4000">
              <a:latin typeface="Times New Roman"/>
              <a:ea typeface="Times New Roman"/>
              <a:cs typeface="Times New Roman"/>
              <a:sym typeface="Times New Roman"/>
            </a:endParaRPr>
          </a:p>
        </p:txBody>
      </p:sp>
      <p:sp>
        <p:nvSpPr>
          <p:cNvPr id="187" name="Google Shape;187;p36"/>
          <p:cNvSpPr txBox="1"/>
          <p:nvPr>
            <p:ph type="title"/>
          </p:nvPr>
        </p:nvSpPr>
        <p:spPr>
          <a:xfrm>
            <a:off x="281025" y="1476200"/>
            <a:ext cx="8253300" cy="172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latin typeface="Times New Roman"/>
                <a:ea typeface="Times New Roman"/>
                <a:cs typeface="Times New Roman"/>
                <a:sym typeface="Times New Roman"/>
              </a:rPr>
              <a:t>The model’s performance could be influenced by overfitting to the small test dataset, the potential overfitting could limit the model’s generalizability to unseen data.</a:t>
            </a:r>
            <a:endParaRPr sz="2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Times New Roman"/>
                <a:ea typeface="Times New Roman"/>
                <a:cs typeface="Times New Roman"/>
                <a:sym typeface="Times New Roman"/>
              </a:rPr>
              <a:t>Conclusion</a:t>
            </a:r>
            <a:endParaRPr b="1" sz="3300">
              <a:latin typeface="Times New Roman"/>
              <a:ea typeface="Times New Roman"/>
              <a:cs typeface="Times New Roman"/>
              <a:sym typeface="Times New Roman"/>
            </a:endParaRPr>
          </a:p>
        </p:txBody>
      </p:sp>
      <p:sp>
        <p:nvSpPr>
          <p:cNvPr id="193" name="Google Shape;193;p37"/>
          <p:cNvSpPr txBox="1"/>
          <p:nvPr>
            <p:ph idx="1" type="body"/>
          </p:nvPr>
        </p:nvSpPr>
        <p:spPr>
          <a:xfrm>
            <a:off x="311700" y="1396375"/>
            <a:ext cx="8520600" cy="3172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500">
                <a:solidFill>
                  <a:srgbClr val="000000"/>
                </a:solidFill>
                <a:highlight>
                  <a:srgbClr val="FFFFFF"/>
                </a:highlight>
                <a:latin typeface="Times New Roman"/>
                <a:ea typeface="Times New Roman"/>
                <a:cs typeface="Times New Roman"/>
                <a:sym typeface="Times New Roman"/>
              </a:rPr>
              <a:t>The literature shows a clear trend: multi-source datasets (weather + soil + field labels+images) yield the best ML performance for crop yield prediction.</a:t>
            </a:r>
            <a:endParaRPr sz="1500">
              <a:solidFill>
                <a:srgbClr val="000000"/>
              </a:solidFill>
              <a:highlight>
                <a:srgbClr val="FFFFFF"/>
              </a:highlight>
              <a:latin typeface="Times New Roman"/>
              <a:ea typeface="Times New Roman"/>
              <a:cs typeface="Times New Roman"/>
              <a:sym typeface="Times New Roman"/>
            </a:endParaRPr>
          </a:p>
          <a:p>
            <a:pPr indent="0" lvl="0" marL="0" rtl="0" algn="l">
              <a:spcBef>
                <a:spcPts val="1200"/>
              </a:spcBef>
              <a:spcAft>
                <a:spcPts val="0"/>
              </a:spcAft>
              <a:buNone/>
            </a:pPr>
            <a:r>
              <a:rPr lang="en" sz="1500">
                <a:solidFill>
                  <a:srgbClr val="000000"/>
                </a:solidFill>
                <a:latin typeface="Times New Roman"/>
                <a:ea typeface="Times New Roman"/>
                <a:cs typeface="Times New Roman"/>
                <a:sym typeface="Times New Roman"/>
              </a:rPr>
              <a:t>The project </a:t>
            </a:r>
            <a:endParaRPr sz="1500">
              <a:solidFill>
                <a:srgbClr val="000000"/>
              </a:solidFill>
              <a:latin typeface="Times New Roman"/>
              <a:ea typeface="Times New Roman"/>
              <a:cs typeface="Times New Roman"/>
              <a:sym typeface="Times New Roman"/>
            </a:endParaRPr>
          </a:p>
          <a:p>
            <a:pPr indent="-323850" lvl="0" marL="457200" rtl="0" algn="l">
              <a:spcBef>
                <a:spcPts val="120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Enhanced data-driven decision-making in agriculture.</a:t>
            </a:r>
            <a:endParaRPr sz="15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en" sz="1500">
                <a:solidFill>
                  <a:srgbClr val="000000"/>
                </a:solidFill>
                <a:latin typeface="Times New Roman"/>
                <a:ea typeface="Times New Roman"/>
                <a:cs typeface="Times New Roman"/>
                <a:sym typeface="Times New Roman"/>
              </a:rPr>
              <a:t>Improved yield forecasting, reducing uncertainty and waste.</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1600"/>
              </a:spcAft>
              <a:buNone/>
            </a:pPr>
            <a:r>
              <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8"/>
          <p:cNvSpPr txBox="1"/>
          <p:nvPr>
            <p:ph idx="4294967295" type="title"/>
          </p:nvPr>
        </p:nvSpPr>
        <p:spPr>
          <a:xfrm>
            <a:off x="311700" y="709050"/>
            <a:ext cx="4035600" cy="3725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What will I do next?</a:t>
            </a:r>
            <a:endParaRPr sz="3200"/>
          </a:p>
          <a:p>
            <a:pPr indent="0" lvl="0" marL="0" rtl="0" algn="l">
              <a:lnSpc>
                <a:spcPct val="115000"/>
              </a:lnSpc>
              <a:spcBef>
                <a:spcPts val="1600"/>
              </a:spcBef>
              <a:spcAft>
                <a:spcPts val="1600"/>
              </a:spcAft>
              <a:buNone/>
            </a:pPr>
            <a:r>
              <a:rPr lang="en" sz="1800">
                <a:solidFill>
                  <a:schemeClr val="accent3"/>
                </a:solidFill>
                <a:latin typeface="Times New Roman"/>
                <a:ea typeface="Times New Roman"/>
                <a:cs typeface="Times New Roman"/>
                <a:sym typeface="Times New Roman"/>
              </a:rPr>
              <a:t>Use imaging sensor data for deep learning model to predict the crop yields.</a:t>
            </a:r>
            <a:endParaRPr sz="3600">
              <a:latin typeface="Times New Roman"/>
              <a:ea typeface="Times New Roman"/>
              <a:cs typeface="Times New Roman"/>
              <a:sym typeface="Times New Roman"/>
            </a:endParaRPr>
          </a:p>
        </p:txBody>
      </p:sp>
      <p:pic>
        <p:nvPicPr>
          <p:cNvPr id="199" name="Google Shape;199;p38"/>
          <p:cNvPicPr preferRelativeResize="0"/>
          <p:nvPr/>
        </p:nvPicPr>
        <p:blipFill rotWithShape="1">
          <a:blip r:embed="rId3">
            <a:alphaModFix/>
          </a:blip>
          <a:srcRect b="0" l="0" r="37826" t="0"/>
          <a:stretch/>
        </p:blipFill>
        <p:spPr>
          <a:xfrm>
            <a:off x="4548455" y="0"/>
            <a:ext cx="459555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